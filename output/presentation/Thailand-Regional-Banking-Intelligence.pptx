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9106ada-c01b-d5f6-7e25-c212fd97e1ca}">
          <p14:sldIdLst>
            <p14:sldId id="256"/>
            <p14:sldId id="257"/>
            <p14:sldId id="258"/>
          </p14:sldIdLst>
        </p14:section>
        <p14:section name="Data &amp; Architecture" id="{bb499f42-c462-1ae6-5ac6-535793ab81c5}">
          <p14:sldIdLst>
            <p14:sldId id="259"/>
            <p14:sldId id="260"/>
            <p14:sldId id="261"/>
            <p14:sldId id="262"/>
          </p14:sldIdLst>
        </p14:section>
        <p14:section name="Findings" id="{bffeb024-dff4-bb26-5aa5-66da5223d1ec}">
          <p14:sldIdLst>
            <p14:sldId id="263"/>
            <p14:sldId id="264"/>
            <p14:sldId id="265"/>
            <p14:sldId id="266"/>
          </p14:sldIdLst>
        </p14:section>
        <p14:section name="Application" id="{072b2220-def9-2f1d-ede8-6788e9594f24}">
          <p14:sldIdLst>
            <p14:sldId id="267"/>
            <p14:sldId id="268"/>
          </p14:sldIdLst>
        </p14:section>
        <p14:section name="Validation &amp; Next steps" id="{6e172f6c-6411-481f-21f8-9016bb3d573a}">
          <p14:sldIdLst>
            <p14:sldId id="269"/>
            <p14:sldId id="270"/>
            <p14:sldId id="271"/>
          </p14:sldIdLst>
        </p14:section>
        <p14:section name="Appendix" id="{d26912e1-0c75-b567-52f6-5fca0e5a063c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A2233"/>
                </a:solidFill>
                <a:latin typeface="+mn-lt"/>
              </a:rPr>
              <a:t>หน่วย: พันล้านบาท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ปราจีนบุรี</c:v>
                </c:pt>
              </c:strCache>
            </c:strRef>
          </c:tx>
          <c:spPr>
            <a:solidFill>
              <a:srgbClr val="5B6878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GPP ปี 2567</c:v>
                  </c:pt>
                  <c:pt idx="1">
                    <c:v>สินเชื่อ ก.ค. 2569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243.7</c:v>
                </c:pt>
                <c:pt idx="1">
                  <c:v>32.5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ภูเก็ต</c:v>
                </c:pt>
              </c:strCache>
            </c:strRef>
          </c:tx>
          <c:spPr>
            <a:solidFill>
              <a:srgbClr val="0B7A5C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GPP ปี 2567</c:v>
                  </c:pt>
                  <c:pt idx="1">
                    <c:v>สินเชื่อ ก.ค. 2569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272.4</c:v>
                </c:pt>
                <c:pt idx="1">
                  <c:v>176.8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DE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8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8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A2233"/>
                </a:solidFill>
                <a:latin typeface="+mn-lt"/>
              </a:rPr>
              <a:t>สัดส่วนของสินเชื่อรวม 18.10 ล้านล้านบาท (ก.ค. 2569)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สัดส่วนสินเชื่อ</c:v>
                </c:pt>
              </c:strCache>
            </c:strRef>
          </c:tx>
          <c:spPr>
            <a:solidFill>
              <a:srgbClr val="0B7A5C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กรุงเทพฯ</c:v>
                  </c:pt>
                  <c:pt idx="1">
                    <c:v>ชลบุรี</c:v>
                  </c:pt>
                  <c:pt idx="2">
                    <c:v>สมุทรปราการ</c:v>
                  </c:pt>
                  <c:pt idx="3">
                    <c:v>นนทบุรี</c:v>
                  </c:pt>
                  <c:pt idx="4">
                    <c:v>เชียงใหม่</c:v>
                  </c:pt>
                  <c:pt idx="5">
                    <c:v>อีก 72 จังหวัด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76.38</c:v>
                </c:pt>
                <c:pt idx="1">
                  <c:v>2.49</c:v>
                </c:pt>
                <c:pt idx="2">
                  <c:v>1.64</c:v>
                </c:pt>
                <c:pt idx="3">
                  <c:v>1.48</c:v>
                </c:pt>
                <c:pt idx="4">
                  <c:v>1.12</c:v>
                </c:pt>
                <c:pt idx="5">
                  <c:v>16.89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DDE5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8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8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A2233"/>
                </a:solidFill>
                <a:latin typeface="+mn-lt"/>
              </a:rPr>
              <a:t>สาขาต่อประชากรแสนคน 10 อันดับแรก (CQ03)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สาขาต่อแสนคน</c:v>
                </c:pt>
              </c:strCache>
            </c:strRef>
          </c:tx>
          <c:spPr>
            <a:solidFill>
              <a:srgbClr val="2E4A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กรุงเทพฯ</c:v>
                  </c:pt>
                  <c:pt idx="1">
                    <c:v>ภูเก็ต</c:v>
                  </c:pt>
                  <c:pt idx="2">
                    <c:v>ชลบุรี</c:v>
                  </c:pt>
                  <c:pt idx="3">
                    <c:v>สมุทรสาคร</c:v>
                  </c:pt>
                  <c:pt idx="4">
                    <c:v>นนทบุรี</c:v>
                  </c:pt>
                  <c:pt idx="5">
                    <c:v>สมุทรปราการ</c:v>
                  </c:pt>
                  <c:pt idx="6">
                    <c:v>ระยอง</c:v>
                  </c:pt>
                  <c:pt idx="7">
                    <c:v>นครปฐม</c:v>
                  </c:pt>
                  <c:pt idx="8">
                    <c:v>ปทุมธานี</c:v>
                  </c:pt>
                  <c:pt idx="9">
                    <c:v>สุราษฎร์ธานี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22.98</c:v>
                </c:pt>
                <c:pt idx="1">
                  <c:v>19.65</c:v>
                </c:pt>
                <c:pt idx="2">
                  <c:v>14.52</c:v>
                </c:pt>
                <c:pt idx="3">
                  <c:v>11.92</c:v>
                </c:pt>
                <c:pt idx="4">
                  <c:v>11.12</c:v>
                </c:pt>
                <c:pt idx="5">
                  <c:v>10.98</c:v>
                </c:pt>
                <c:pt idx="6">
                  <c:v>10.51</c:v>
                </c:pt>
                <c:pt idx="7">
                  <c:v>9.5</c:v>
                </c:pt>
                <c:pt idx="8">
                  <c:v>9.31</c:v>
                </c:pt>
                <c:pt idx="9">
                  <c:v>8.83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DDE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8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8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A2233"/>
                </a:solidFill>
                <a:latin typeface="+mn-lt"/>
              </a:rPr>
              <a:t>ยอดคงค้างรวม 77 จังหวัด (ล้านล้านบาท)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สินเชื่อ</c:v>
                </c:pt>
              </c:strCache>
            </c:strRef>
          </c:tx>
          <c:spPr>
            <a:solidFill>
              <a:srgbClr val="14264A"/>
            </a:solidFill>
            <a:ln w="31750" cap="flat">
              <a:solidFill>
                <a:srgbClr val="1426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4264A"/>
              </a:solidFill>
              <a:ln w="9525" cap="flat">
                <a:solidFill>
                  <a:srgbClr val="1426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ก.ค. 67</c:v>
                  </c:pt>
                  <c:pt idx="1">
                    <c:v>ส.ค. 67</c:v>
                  </c:pt>
                  <c:pt idx="2">
                    <c:v>ก.ย. 67</c:v>
                  </c:pt>
                  <c:pt idx="3">
                    <c:v>ต.ค. 67</c:v>
                  </c:pt>
                  <c:pt idx="4">
                    <c:v>พ.ย. 67</c:v>
                  </c:pt>
                  <c:pt idx="5">
                    <c:v>ธ.ค. 67</c:v>
                  </c:pt>
                  <c:pt idx="6">
                    <c:v>ม.ค. 68</c:v>
                  </c:pt>
                  <c:pt idx="7">
                    <c:v>ก.พ. 68</c:v>
                  </c:pt>
                  <c:pt idx="8">
                    <c:v>มี.ค. 68</c:v>
                  </c:pt>
                  <c:pt idx="9">
                    <c:v>เม.ย. 68</c:v>
                  </c:pt>
                  <c:pt idx="10">
                    <c:v>พ.ค. 68</c:v>
                  </c:pt>
                  <c:pt idx="11">
                    <c:v>มิ.ย. 68</c:v>
                  </c:pt>
                  <c:pt idx="12">
                    <c:v>ก.ค. 68</c:v>
                  </c:pt>
                  <c:pt idx="13">
                    <c:v>ส.ค. 68</c:v>
                  </c:pt>
                  <c:pt idx="14">
                    <c:v>ก.ย. 68</c:v>
                  </c:pt>
                  <c:pt idx="15">
                    <c:v>ต.ค. 68</c:v>
                  </c:pt>
                  <c:pt idx="16">
                    <c:v>พ.ย. 68</c:v>
                  </c:pt>
                  <c:pt idx="17">
                    <c:v>ธ.ค. 68</c:v>
                  </c:pt>
                  <c:pt idx="18">
                    <c:v>ม.ค. 69</c:v>
                  </c:pt>
                  <c:pt idx="19">
                    <c:v>ก.พ. 69</c:v>
                  </c:pt>
                  <c:pt idx="20">
                    <c:v>มี.ค. 69</c:v>
                  </c:pt>
                  <c:pt idx="21">
                    <c:v>เม.ย. 69</c:v>
                  </c:pt>
                  <c:pt idx="22">
                    <c:v>พ.ค. 69</c:v>
                  </c:pt>
                  <c:pt idx="23">
                    <c:v>มิ.ย. 69</c:v>
                  </c:pt>
                  <c:pt idx="24">
                    <c:v>ก.ค. 69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17.9</c:v>
                </c:pt>
                <c:pt idx="1">
                  <c:v>17.92</c:v>
                </c:pt>
                <c:pt idx="2">
                  <c:v>17.67</c:v>
                </c:pt>
                <c:pt idx="3">
                  <c:v>18.08</c:v>
                </c:pt>
                <c:pt idx="4">
                  <c:v>18.01</c:v>
                </c:pt>
                <c:pt idx="5">
                  <c:v>18.12</c:v>
                </c:pt>
                <c:pt idx="6">
                  <c:v>18.11</c:v>
                </c:pt>
                <c:pt idx="7">
                  <c:v>18.15</c:v>
                </c:pt>
                <c:pt idx="8">
                  <c:v>17.96</c:v>
                </c:pt>
                <c:pt idx="9">
                  <c:v>18.11</c:v>
                </c:pt>
                <c:pt idx="10">
                  <c:v>18.13</c:v>
                </c:pt>
                <c:pt idx="11">
                  <c:v>18.09</c:v>
                </c:pt>
                <c:pt idx="12">
                  <c:v>18.13</c:v>
                </c:pt>
                <c:pt idx="13">
                  <c:v>18.01</c:v>
                </c:pt>
                <c:pt idx="14">
                  <c:v>17.63</c:v>
                </c:pt>
                <c:pt idx="15">
                  <c:v>17.73</c:v>
                </c:pt>
                <c:pt idx="16">
                  <c:v>17.86</c:v>
                </c:pt>
                <c:pt idx="17">
                  <c:v>17.97</c:v>
                </c:pt>
                <c:pt idx="18">
                  <c:v>17.8</c:v>
                </c:pt>
                <c:pt idx="19">
                  <c:v>17.8</c:v>
                </c:pt>
                <c:pt idx="20">
                  <c:v>17.93</c:v>
                </c:pt>
                <c:pt idx="21">
                  <c:v>18.07</c:v>
                </c:pt>
                <c:pt idx="22">
                  <c:v>18.3</c:v>
                </c:pt>
                <c:pt idx="23">
                  <c:v>18.04</c:v>
                </c:pt>
                <c:pt idx="24">
                  <c:v>18.1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เงินฝาก</c:v>
                </c:pt>
              </c:strCache>
            </c:strRef>
          </c:tx>
          <c:spPr>
            <a:solidFill>
              <a:srgbClr val="0B7A5C"/>
            </a:solidFill>
            <a:ln w="31750" cap="flat">
              <a:solidFill>
                <a:srgbClr val="0B7A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7A5C"/>
              </a:solidFill>
              <a:ln w="9525" cap="flat">
                <a:solidFill>
                  <a:srgbClr val="0B7A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ก.ค. 67</c:v>
                  </c:pt>
                  <c:pt idx="1">
                    <c:v>ส.ค. 67</c:v>
                  </c:pt>
                  <c:pt idx="2">
                    <c:v>ก.ย. 67</c:v>
                  </c:pt>
                  <c:pt idx="3">
                    <c:v>ต.ค. 67</c:v>
                  </c:pt>
                  <c:pt idx="4">
                    <c:v>พ.ย. 67</c:v>
                  </c:pt>
                  <c:pt idx="5">
                    <c:v>ธ.ค. 67</c:v>
                  </c:pt>
                  <c:pt idx="6">
                    <c:v>ม.ค. 68</c:v>
                  </c:pt>
                  <c:pt idx="7">
                    <c:v>ก.พ. 68</c:v>
                  </c:pt>
                  <c:pt idx="8">
                    <c:v>มี.ค. 68</c:v>
                  </c:pt>
                  <c:pt idx="9">
                    <c:v>เม.ย. 68</c:v>
                  </c:pt>
                  <c:pt idx="10">
                    <c:v>พ.ค. 68</c:v>
                  </c:pt>
                  <c:pt idx="11">
                    <c:v>มิ.ย. 68</c:v>
                  </c:pt>
                  <c:pt idx="12">
                    <c:v>ก.ค. 68</c:v>
                  </c:pt>
                  <c:pt idx="13">
                    <c:v>ส.ค. 68</c:v>
                  </c:pt>
                  <c:pt idx="14">
                    <c:v>ก.ย. 68</c:v>
                  </c:pt>
                  <c:pt idx="15">
                    <c:v>ต.ค. 68</c:v>
                  </c:pt>
                  <c:pt idx="16">
                    <c:v>พ.ย. 68</c:v>
                  </c:pt>
                  <c:pt idx="17">
                    <c:v>ธ.ค. 68</c:v>
                  </c:pt>
                  <c:pt idx="18">
                    <c:v>ม.ค. 69</c:v>
                  </c:pt>
                  <c:pt idx="19">
                    <c:v>ก.พ. 69</c:v>
                  </c:pt>
                  <c:pt idx="20">
                    <c:v>มี.ค. 69</c:v>
                  </c:pt>
                  <c:pt idx="21">
                    <c:v>เม.ย. 69</c:v>
                  </c:pt>
                  <c:pt idx="22">
                    <c:v>พ.ค. 69</c:v>
                  </c:pt>
                  <c:pt idx="23">
                    <c:v>มิ.ย. 69</c:v>
                  </c:pt>
                  <c:pt idx="24">
                    <c:v>ก.ค. 69</c:v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17.2</c:v>
                </c:pt>
                <c:pt idx="1">
                  <c:v>16.97</c:v>
                </c:pt>
                <c:pt idx="2">
                  <c:v>17.04</c:v>
                </c:pt>
                <c:pt idx="3">
                  <c:v>17.4</c:v>
                </c:pt>
                <c:pt idx="4">
                  <c:v>17.32</c:v>
                </c:pt>
                <c:pt idx="5">
                  <c:v>17.38</c:v>
                </c:pt>
                <c:pt idx="6">
                  <c:v>17.44</c:v>
                </c:pt>
                <c:pt idx="7">
                  <c:v>17.48</c:v>
                </c:pt>
                <c:pt idx="8">
                  <c:v>17.48</c:v>
                </c:pt>
                <c:pt idx="9">
                  <c:v>17.5</c:v>
                </c:pt>
                <c:pt idx="10">
                  <c:v>17.47</c:v>
                </c:pt>
                <c:pt idx="11">
                  <c:v>17.39</c:v>
                </c:pt>
                <c:pt idx="12">
                  <c:v>17.46</c:v>
                </c:pt>
                <c:pt idx="13">
                  <c:v>17.45</c:v>
                </c:pt>
                <c:pt idx="14">
                  <c:v>17.38</c:v>
                </c:pt>
                <c:pt idx="15">
                  <c:v>17.54</c:v>
                </c:pt>
                <c:pt idx="16">
                  <c:v>17.65</c:v>
                </c:pt>
                <c:pt idx="17">
                  <c:v>17.81</c:v>
                </c:pt>
                <c:pt idx="18">
                  <c:v>17.85</c:v>
                </c:pt>
                <c:pt idx="19">
                  <c:v>17.85</c:v>
                </c:pt>
                <c:pt idx="20">
                  <c:v>18.03</c:v>
                </c:pt>
                <c:pt idx="21">
                  <c:v>18.26</c:v>
                </c:pt>
                <c:pt idx="22">
                  <c:v>18.08</c:v>
                </c:pt>
                <c:pt idx="23">
                  <c:v>17.99</c:v>
                </c:pt>
                <c:pt idx="24">
                  <c:v>18.14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DE5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8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ax val="18.4"/>
          <c:min val="16.8"/>
        </c:scaling>
        <c:delete val="0"/>
        <c:axPos val="l"/>
        <c:majorGridlines>
          <c:spPr>
            <a:ln w="9525" cap="flat">
              <a:solidFill>
                <a:srgbClr val="E3E8E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8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233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A2233"/>
                </a:solidFill>
                <a:latin typeface="+mn-lt"/>
              </a:rPr>
              <a:t>ดอกเบี้ยนโยบาย ณ สิ้นเดือน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ดอกเบี้ยนโยบาย (%)</c:v>
                </c:pt>
              </c:strCache>
            </c:strRef>
          </c:tx>
          <c:spPr>
            <a:solidFill>
              <a:srgbClr val="C77D02"/>
            </a:solidFill>
            <a:ln w="25400" cap="flat">
              <a:solidFill>
                <a:srgbClr val="C77D0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77D02"/>
              </a:solidFill>
              <a:ln w="9525" cap="flat">
                <a:solidFill>
                  <a:srgbClr val="C77D0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ก.ค. 67</c:v>
                  </c:pt>
                  <c:pt idx="1">
                    <c:v>ส.ค. 67</c:v>
                  </c:pt>
                  <c:pt idx="2">
                    <c:v>ก.ย. 67</c:v>
                  </c:pt>
                  <c:pt idx="3">
                    <c:v>ต.ค. 67</c:v>
                  </c:pt>
                  <c:pt idx="4">
                    <c:v>พ.ย. 67</c:v>
                  </c:pt>
                  <c:pt idx="5">
                    <c:v>ธ.ค. 67</c:v>
                  </c:pt>
                  <c:pt idx="6">
                    <c:v>ม.ค. 68</c:v>
                  </c:pt>
                  <c:pt idx="7">
                    <c:v>ก.พ. 68</c:v>
                  </c:pt>
                  <c:pt idx="8">
                    <c:v>มี.ค. 68</c:v>
                  </c:pt>
                  <c:pt idx="9">
                    <c:v>เม.ย. 68</c:v>
                  </c:pt>
                  <c:pt idx="10">
                    <c:v>พ.ค. 68</c:v>
                  </c:pt>
                  <c:pt idx="11">
                    <c:v>มิ.ย. 68</c:v>
                  </c:pt>
                  <c:pt idx="12">
                    <c:v>ก.ค. 68</c:v>
                  </c:pt>
                  <c:pt idx="13">
                    <c:v>ส.ค. 68</c:v>
                  </c:pt>
                  <c:pt idx="14">
                    <c:v>ก.ย. 68</c:v>
                  </c:pt>
                  <c:pt idx="15">
                    <c:v>ต.ค. 68</c:v>
                  </c:pt>
                  <c:pt idx="16">
                    <c:v>พ.ย. 68</c:v>
                  </c:pt>
                  <c:pt idx="17">
                    <c:v>ธ.ค. 68</c:v>
                  </c:pt>
                  <c:pt idx="18">
                    <c:v>ม.ค. 69</c:v>
                  </c:pt>
                  <c:pt idx="19">
                    <c:v>ก.พ. 69</c:v>
                  </c:pt>
                  <c:pt idx="20">
                    <c:v>มี.ค. 69</c:v>
                  </c:pt>
                  <c:pt idx="21">
                    <c:v>เม.ย. 69</c:v>
                  </c:pt>
                  <c:pt idx="22">
                    <c:v>พ.ค. 69</c:v>
                  </c:pt>
                  <c:pt idx="23">
                    <c:v>มิ.ย. 69</c:v>
                  </c:pt>
                  <c:pt idx="24">
                    <c:v>ก.ค. 69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2.25</c:v>
                </c:pt>
                <c:pt idx="4">
                  <c:v>2.25</c:v>
                </c:pt>
                <c:pt idx="5">
                  <c:v>2.25</c:v>
                </c:pt>
                <c:pt idx="6">
                  <c:v>2.25</c:v>
                </c:pt>
                <c:pt idx="7">
                  <c:v>2</c:v>
                </c:pt>
                <c:pt idx="8">
                  <c:v>2</c:v>
                </c:pt>
                <c:pt idx="9">
                  <c:v>1.75</c:v>
                </c:pt>
                <c:pt idx="10">
                  <c:v>1.75</c:v>
                </c:pt>
                <c:pt idx="11">
                  <c:v>1.75</c:v>
                </c:pt>
                <c:pt idx="12">
                  <c:v>1.75</c:v>
                </c:pt>
                <c:pt idx="13">
                  <c:v>1.5</c:v>
                </c:pt>
                <c:pt idx="14">
                  <c:v>1.5</c:v>
                </c:pt>
                <c:pt idx="15">
                  <c:v>1.5</c:v>
                </c:pt>
                <c:pt idx="16">
                  <c:v>1.5</c:v>
                </c:pt>
                <c:pt idx="17">
                  <c:v>1.25</c:v>
                </c:pt>
                <c:pt idx="18">
                  <c:v>1.25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DE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8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.5"/>
        </c:scaling>
        <c:delete val="0"/>
        <c:axPos val="l"/>
        <c:majorGridlines>
          <c:spPr>
            <a:ln w="9525" cap="flat">
              <a:solidFill>
                <a:srgbClr val="E3E8E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8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A2233"/>
                </a:solidFill>
                <a:latin typeface="+mn-lt"/>
              </a:rPr>
              <a:t>สินเชื่อ ÷ GPP ของ 22 จังหวัดที่ผ่านเกณฑ์ (ต่ำ → สูง)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สินเชื่อต่อ GPP</c:v>
                </c:pt>
              </c:strCache>
            </c:strRef>
          </c:tx>
          <c:spPr>
            <a:solidFill>
              <a:srgbClr val="0B7A5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Sheet1!$A$2:$A$23</c:f>
              <c:multiLvlStrCache>
                <c:ptCount val="22"/>
                <c:lvl>
                  <c:pt idx="0">
                    <c:v>ระยอง</c:v>
                  </c:pt>
                  <c:pt idx="1">
                    <c:v>ฉะเชิงเทรา</c:v>
                  </c:pt>
                  <c:pt idx="2">
                    <c:v>อยุธยา</c:v>
                  </c:pt>
                  <c:pt idx="3">
                    <c:v>สระบุรี</c:v>
                  </c:pt>
                  <c:pt idx="4">
                    <c:v>สมุทรสาคร</c:v>
                  </c:pt>
                  <c:pt idx="5">
                    <c:v>ราชบุรี</c:v>
                  </c:pt>
                  <c:pt idx="6">
                    <c:v>นครปฐม</c:v>
                  </c:pt>
                  <c:pt idx="7">
                    <c:v>ชลบุรี</c:v>
                  </c:pt>
                  <c:pt idx="8">
                    <c:v>สุราษฎร์ธานี</c:v>
                  </c:pt>
                  <c:pt idx="9">
                    <c:v>นครศรีธรรมราช</c:v>
                  </c:pt>
                  <c:pt idx="10">
                    <c:v>สมุทรปราการ</c:v>
                  </c:pt>
                  <c:pt idx="11">
                    <c:v>นครสวรรค์</c:v>
                  </c:pt>
                  <c:pt idx="12">
                    <c:v>ปทุมธานี</c:v>
                  </c:pt>
                  <c:pt idx="13">
                    <c:v>นครราชสีมา</c:v>
                  </c:pt>
                  <c:pt idx="14">
                    <c:v>พิษณุโลก</c:v>
                  </c:pt>
                  <c:pt idx="15">
                    <c:v>เชียงราย</c:v>
                  </c:pt>
                  <c:pt idx="16">
                    <c:v>สงขลา</c:v>
                  </c:pt>
                  <c:pt idx="17">
                    <c:v>ขอนแก่น</c:v>
                  </c:pt>
                  <c:pt idx="18">
                    <c:v>อุบลราชธานี</c:v>
                  </c:pt>
                  <c:pt idx="19">
                    <c:v>อุดรธานี</c:v>
                  </c:pt>
                  <c:pt idx="20">
                    <c:v>นนทบุรี</c:v>
                  </c:pt>
                  <c:pt idx="21">
                    <c:v>เชียงใหม่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13.4</c:v>
                </c:pt>
                <c:pt idx="1">
                  <c:v>13.7</c:v>
                </c:pt>
                <c:pt idx="2">
                  <c:v>20.6</c:v>
                </c:pt>
                <c:pt idx="3">
                  <c:v>21</c:v>
                </c:pt>
                <c:pt idx="4">
                  <c:v>24.1</c:v>
                </c:pt>
                <c:pt idx="5">
                  <c:v>28.9</c:v>
                </c:pt>
                <c:pt idx="6">
                  <c:v>29.1</c:v>
                </c:pt>
                <c:pt idx="7">
                  <c:v>36.5</c:v>
                </c:pt>
                <c:pt idx="8">
                  <c:v>38</c:v>
                </c:pt>
                <c:pt idx="9">
                  <c:v>38.5</c:v>
                </c:pt>
                <c:pt idx="10">
                  <c:v>38.6</c:v>
                </c:pt>
                <c:pt idx="11">
                  <c:v>42.3</c:v>
                </c:pt>
                <c:pt idx="12">
                  <c:v>43.1</c:v>
                </c:pt>
                <c:pt idx="13">
                  <c:v>45.2</c:v>
                </c:pt>
                <c:pt idx="14">
                  <c:v>49.9</c:v>
                </c:pt>
                <c:pt idx="15">
                  <c:v>51.5</c:v>
                </c:pt>
                <c:pt idx="16">
                  <c:v>54.6</c:v>
                </c:pt>
                <c:pt idx="17">
                  <c:v>57.6</c:v>
                </c:pt>
                <c:pt idx="18">
                  <c:v>59.9</c:v>
                </c:pt>
                <c:pt idx="19">
                  <c:v>63.9</c:v>
                </c:pt>
                <c:pt idx="20">
                  <c:v>65.9</c:v>
                </c:pt>
                <c:pt idx="21">
                  <c:v>69.2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DDE5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8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8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เปิด: โปรเจกต์นี้ตอบคำถามว่า ถ้าทีมกลยุทธ์ธนาคารต้องเลือกจังหวัดเพื่อศึกษาตลาดต่อ ควรดูข้อมูลอะไร และจะเทียบจังหวัดอย่างเป็นธรรมได้อย่างไร
ข้อมูลครอบคลุม 77 จังหวัด 25 เดือน รวม 1,925 แถวใน mart จาก 5 แหล่งทางการ
ผลลัพธ์มี 3 ส่วน: Data Model ที่ตอบ 10 คำถามธุรกิจด้วย SQL, Dashboard และ AI Assistant ภาษาไทย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 3 ข้อก่อนลงรายละเอียด: (1) ยอดรวมถูกครอบงำโดยกรุงเทพฯ จึงต้องใช้ตัวชี้วัดปรับขนาด (2) เกณฑ์ตัวอย่างได้ 22 จังหวัดเป็นรายชื่อศึกษาต่อ (3) ทุกคำตอบตรวจย้อนไปถึง SQL และแหล่งข้อมูลได้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ยกตัวอย่างจริงจาก CQ04: ปราจีนบุรี กับ ภูเก็ต มี GPP ใกล้กัน (ต่าง 10.6%) แต่สินเชื่อต่างกัน 5.44 เท่า แสดงว่าขนาดเศรษฐกิจไม่ได้บอกขนาดตลาดสินเชื่อโดยตรง จึงต้องมีระบบที่เทียบหลายมิติพร้อมกัน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คำถามถูกเขียนก่อนออกแบบตาราง แต่ละคำถามบังคับให้ต้องมีข้อมูลบางอย่าง เช่น CQ03 ต้องเชื่อมสาขาจาก ธปท. กับประชากรจากกรมการปกครอง ส่วน CQ05 ต้องจับคู่ดอกเบี้ยนโยบายแบบ as-of กับข้อมูลรายเดือน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ประเด็นสำคัญคือ 'วันอ้างอิง' กับ 'วันเผยแพร่' ต่างกัน ระบบจึงใช้กฎ as-of เพื่อไม่ให้ข้อมูลที่ยังไม่ประกาศ ณ เวลานั้นรั่วเข้าการวิเคราะห์ย้อนหลัง ผลคือ GPP ใช้ได้ 385 จาก 1,925 แถว และเงินเฟ้อ World Bank ยังไม่มีค่าที่ผ่านกฎ ซึ่งเป็นการตัดสินใจโดยเจตนาเพื่อความถูกต้อง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mart เป็นตารางกว้างที่ทุก query ใช้ร่วมกัน ข้อดีคือสูตรอยู่ที่เดียว ส่วน fact แยกตามความถี่ต้นทาง ทำให้ตรวจย้อนได้ว่าแต่ละค่ามาจากปีอ้างอิงใด รายละเอียดคีย์อยู่ใน Appendix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ไล่จากซ้ายไปขวา: ETL ใน Python ตรวจ schema และหน่วยก่อนเขียนลง PostgreSQL, Airflow ตั้งเวลา 07:00 ทุกวัน, FastAPI เป็นชั้นเดียวที่แตะฐานข้อมูลแบบอ่านอย่างเดียว ส่วน Next.js เรียกผ่าน server proxy และ Grafana ใช้ติดตามสถานะ pipeline คุณภาพข้อมูล และ AI/API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กรุงเทพฯ 76.38% และ 5 จังหวัดแรก 83.11% ของยอดสินเชื่อ 18,100,244 ล้านบาท ข้อสรุปคือยอดรวมใช้บอกขนาดตลาดที่บันทึกได้ แต่ใช้เลือกพื้นที่ไม่ได้ จึงเป็นเหตุผลของตัวชี้วัดปรับขนาดในสไลด์ถัดไป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กรุงเทพฯ ยังนำในสาขาต่อประชากร แต่จังหวัดท่องเที่ยวอย่างภูเก็ตตามมาใกล้ๆ เพราะประชากรทะเบียนน้อยกว่าผู้ใช้บริการจริง ส่วนการ์ดด้านขวาแสดงว่าตัวชี้วัดปรับขนาดเผยจังหวัดที่ยอดรวมมองไม่เห็น เช่น ร้อยเอ็ด และปทุมธานี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ในช่วง 25 เดือน กนง. ลดดอกเบี้ย 6 ครั้ง แต่สินเชื่อรวมเกือบไม่เปลี่ยน (-0.17% YoY) ขณะที่เงินฝากโต 3.89% และเริ่มสูงกว่าสินเชื่อตั้งแต่ต้นปี 2569 สาขาลดลง 274 แห่ง ข้อมูลชุดนี้บอกได้แค่ว่าเกิดพร้อมกัน ไม่ได้บอกว่าดอกเบี้ยเป็นสาเหตุ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เกณฑ์เป็นสมมติฐานที่ปรับได้ ไม่ใช่การจัดอันดับการลงทุน เมื่อเรียงสินเชื่อต่อ GPP พบว่า ระยอง 13.4%, ฉะเชิงเทรา 13.7%, พระนครศรีอยุธยา 20.6%, สระบุรี 21.0% ต่ำสุด เป็นกลุ่มอุตสาหกรรมภาคตะวันออกและภาคกลาง ซึ่งอาจอธิบายได้ด้วยการบันทึกบัญชีที่สำนักงานใหญ่ จึงเป็นคำถามสำหรับการศึกษาเชิงลึก ไม่ใช่ข้อสรุป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ที่แนะนำ: เปิดภาพรวมตลาด → เทียบ 2 จังหวัด → ปรับเกณฑ์คัดกรองแล้วอธิบายว่าทำไมแต่ละจังหวัดผ่าน → เปิดคำถามธุรกิจเพื่อดู SQL → ถาม Assistant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จุดออกแบบสำคัญ: LLM ไม่ได้สร้าง SQL โดยตรง แต่สร้าง QueryPlan ที่มีโครงสร้าง แล้ว compiler แบบ allowlist แปลงเป็น SQL และตรวจด้วย SQLGlot ก่อนรันใน transaction แบบอ่านอย่างเดียว ภาพตัวอย่างบันทึกจากหน้า analytical view ซึ่งเป็นเส้นทางเดียวกับที่ router ส่งต่อมา (ภาพถ่าย 11 ต.ค. 2569)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เน้นว่าหลักฐานแยกประเภท: regression tests ทดสอบระบบ, 80 คำถามทดสอบ planner แบบ deterministic, benchmark 24 turns เทียบสามกลยุทธ์ และ smoke test ทดสอบ router จริง ผล LLM-only 6/14 เป็นเหตุผลเชิงข้อมูลที่เลือก hybrid planner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รวมข้อจำกัดไว้ในสไลด์เดียวเพื่อให้ชัดว่าระบบตอบอะไรได้และไม่ได้ ทุกข้อมีเอกสารใน docs/data-sources.md และ docs/verification.md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ปิดด้วยข้อเสนอที่ทำได้จริง: shortlist คือคำถามสำหรับการศึกษาต่อ ไม่ใช่คำตอบสุดท้าย ด้านระบบต้องประเมิน router และเพิ่มความปลอดภัยก่อนใช้งานจริง จากนั้นเปิดรับคำถาม (ใช้ Appendix ตอบเรื่อง schema, SQL, การประเมิน AI และ data contract)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แหล่งอ้างอิง: docs/architecture.md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ทุก query อ่าน mart_province_month · แหล่งอ้างอิง: docs/competency-questions.md, sql/competency_questions.sql, docs/evidence/competency-results.json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ทุก query อ่าน mart_province_month · แหล่งอ้างอิง: docs/competency-questions.md, sql/competency_questions.sql, docs/evidence/competency-results.json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แหล่งอ้างอิง: sql/competency_questions.sql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แหล่งอ้างอิง: sql/competency_questions.sql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แหล่งอ้างอิง: docs/verification.md, docs/evidence/llm/results.md, docs/conversation-routing.md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แหล่งอ้างอิง: docs/data-sources.md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Thailand Regional Banking Intelligence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PENDIX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Appendix · สำหรับตอบคำถาม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6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5"/>
                </a:solidFill>
              </a:rPr>
              <a:t>DATA MODEL  ·  ANALYTICS  ·  AI ASSISTANT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Thailand Regional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Banking Intelligence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ระบบคัดกรองตลาดธนาคารรายจังหวัด จากข้อมูลสาธารณะที่ตรวจสอบที่มาได้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690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77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663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จังหวัด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40690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25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4663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เดือน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40690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5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4663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แหล่งข้อมูล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40690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10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4663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คำถามธุรกิจ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06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ข้อมูลธนาคาร ก.ค. 67 – ก.ค. 69  ·  ผล Query ณ 10 ต.ค. 2569</a:t>
            </a:r>
            <a:endParaRPr lang="en-US" sz="1200" dirty="0"/>
          </a:p>
        </p:txBody>
      </p:sp>
      <p:pic>
        <p:nvPicPr>
          <p:cNvPr id="14" name="Dashboard screenshot" descr="หน้าภาพรวมตลาดของแอปพลิเคชั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417320"/>
            <a:ext cx="5029200" cy="296904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pic>
      <p:sp>
        <p:nvSpPr>
          <p:cNvPr id="15" name="Text 12"/>
          <p:cNvSpPr txBox="1"/>
          <p:nvPr/>
        </p:nvSpPr>
        <p:spPr>
          <a:xfrm>
            <a:off x="6629400" y="452352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หน้าภาพรวมตลาดใน Next.js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EXECUTIVE SUMMARY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ยอดรวมทำให้ภาพตลาดบิดเบือน ระบบนี้ช่วยเทียบจังหวัดด้วยตัวชี้วัดที่ปรับขนาดและตรวจสอบได้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783080"/>
            <a:ext cx="3484778" cy="3611880"/>
          </a:xfrm>
          <a:prstGeom prst="roundRect">
            <a:avLst>
              <a:gd name="adj" fmla="val 20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sc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24485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834640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76%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65760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ของสินเชื่อบันทึกในกรุงเทพฯ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1605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จังหวัดแรกรวม 83.1% ยอดรวมจึงสะท้อนที่ตั้งการบันทึกบัญชี มากกว่าความต้องการในพื้นที่ ต้องเทียบด้วยตัวชี้วัดต่อประชากร ต่อเงินฝาก และต่อ GPP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4353458" y="1783080"/>
            <a:ext cx="3484778" cy="3611880"/>
          </a:xfrm>
          <a:prstGeom prst="roundRect">
            <a:avLst>
              <a:gd name="adj" fmla="val 20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4673498" y="21031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" descr="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30" y="224485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73498" y="2834640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22</a:t>
            </a:r>
            <a:endParaRPr lang="en-US" sz="4400" dirty="0"/>
          </a:p>
        </p:txBody>
      </p:sp>
      <p:sp>
        <p:nvSpPr>
          <p:cNvPr id="14" name="Text 10"/>
          <p:cNvSpPr txBox="1"/>
          <p:nvPr/>
        </p:nvSpPr>
        <p:spPr>
          <a:xfrm>
            <a:off x="4673498" y="365760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จังหวัดผ่านเกณฑ์คัดกรอง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73498" y="41605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ไม่รวมกรุงเทพฯ, GPP ≥ 1 แสนล้านบาท, สินเชื่อ ≥ 5 หมื่นล้านบาท และสาขา ≤ 15 แห่งต่อแสนคน ใช้เป็น long list สำหรับศึกษาเชิงลึก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8158277" y="1783080"/>
            <a:ext cx="3484778" cy="3611880"/>
          </a:xfrm>
          <a:prstGeom prst="roundRect">
            <a:avLst>
              <a:gd name="adj" fmla="val 20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8478317" y="21031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049" y="224485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78317" y="2834640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10/10</a:t>
            </a:r>
            <a:endParaRPr lang="en-US" sz="4400" dirty="0"/>
          </a:p>
        </p:txBody>
      </p:sp>
      <p:sp>
        <p:nvSpPr>
          <p:cNvPr id="20" name="Text 15"/>
          <p:cNvSpPr txBox="1"/>
          <p:nvPr/>
        </p:nvSpPr>
        <p:spPr>
          <a:xfrm>
            <a:off x="8478317" y="365760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คำถามธุรกิจตอบได้ด้วย SQL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478317" y="41605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แหล่งข้อมูลทางการรวมเป็น mart 1,925 แถว ใช้งานผ่าน Dashboard และ AI Assistant ที่รัน Read-only SQL หลังผ่านการตรวจแผนเท่านั้น</a:t>
            </a:r>
            <a:endParaRPr lang="en-US" sz="1400" dirty="0"/>
          </a:p>
        </p:txBody>
      </p:sp>
      <p:sp>
        <p:nvSpPr>
          <p:cNvPr id="22" name="Source note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ขอบเขต: เครื่องมือคัดกรองตลาดระดับจังหวัด ไม่ใช่การอนุมัติสินเชื่อ การจัดอันดับการลงทุน หรือการตัดสินใจเปิด/ปิดสาขา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BUSINESS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จังหวัดที่ขนาดเศรษฐกิจใกล้กัน อาจมียอดสินเชื่อต่างกันหลายเท่า</a:t>
            </a:r>
            <a:endParaRPr lang="en-US" sz="2400" dirty="0"/>
          </a:p>
        </p:txBody>
      </p:sp>
      <p:sp>
        <p:nvSpPr>
          <p:cNvPr id="4" name="Chart frame"/>
          <p:cNvSpPr/>
          <p:nvPr/>
        </p:nvSpPr>
        <p:spPr>
          <a:xfrm>
            <a:off x="548640" y="1783080"/>
            <a:ext cx="5669280" cy="4069080"/>
          </a:xfrm>
          <a:prstGeom prst="roundRect">
            <a:avLst>
              <a:gd name="adj" fmla="val 17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graphicFrame>
        <p:nvGraphicFramePr>
          <p:cNvPr id="5" name="GPP vs loans chart" descr=""/>
          <p:cNvGraphicFramePr/>
          <p:nvPr/>
        </p:nvGraphicFramePr>
        <p:xfrm>
          <a:off x="548640" y="1783080"/>
          <a:ext cx="56692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583680" y="1783080"/>
            <a:ext cx="5059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GPP ต่างกัน 10.6%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แต่สินเชื่อต่างกัน 5.4 เท่า</a:t>
            </a:r>
            <a:endParaRPr lang="en-US" sz="2200" dirty="0"/>
          </a:p>
        </p:txBody>
      </p:sp>
      <p:sp>
        <p:nvSpPr>
          <p:cNvPr id="7" name="Icon circle"/>
          <p:cNvSpPr/>
          <p:nvPr/>
        </p:nvSpPr>
        <p:spPr>
          <a:xfrm>
            <a:off x="6583680" y="288036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" descr="ques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999232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242048" y="2880360"/>
            <a:ext cx="44010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ปัญหา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242048" y="3191256"/>
            <a:ext cx="44010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ยอดสินเชื่อขึ้นกับขนาดประชากร โครงสร้างเศรษฐกิจ และที่ตั้งการบันทึกบัญชี การจัดอันดับด้วยยอดรวมจึงชี้ไปที่จังหวัดใหญ่เสมอ</a:t>
            </a:r>
            <a:endParaRPr lang="en-US" sz="1300" dirty="0"/>
          </a:p>
        </p:txBody>
      </p:sp>
      <p:sp>
        <p:nvSpPr>
          <p:cNvPr id="11" name="Icon circle"/>
          <p:cNvSpPr/>
          <p:nvPr/>
        </p:nvSpPr>
        <p:spPr>
          <a:xfrm>
            <a:off x="6583680" y="3867912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" descr="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398678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42048" y="3867912"/>
            <a:ext cx="44010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ผู้ใช้เป้าหมาย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242048" y="4178808"/>
            <a:ext cx="44010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นักวิเคราะห์ตลาดและทีมกลยุทธ์ธนาคาร ที่ต้องเลือกจังหวัดสำหรับศึกษาเชิงลึก</a:t>
            </a:r>
            <a:endParaRPr lang="en-US" sz="1300" dirty="0"/>
          </a:p>
        </p:txBody>
      </p:sp>
      <p:sp>
        <p:nvSpPr>
          <p:cNvPr id="15" name="Icon circle"/>
          <p:cNvSpPr/>
          <p:nvPr/>
        </p:nvSpPr>
        <p:spPr>
          <a:xfrm>
            <a:off x="6583680" y="4855464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" descr="m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4974336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242048" y="4855464"/>
            <a:ext cx="44010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สิ่งที่ระบบช่วยตอบ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242048" y="5166360"/>
            <a:ext cx="44010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จังหวัดใดเติบโต มีสาขาหนาแน่น หรือผ่านเกณฑ์ที่กำหนด โดยเห็นสูตร ปีอ้างอิง และแหล่งข้อมูลของทุกตัวเลข</a:t>
            </a:r>
            <a:endParaRPr lang="en-US" sz="1300" dirty="0"/>
          </a:p>
        </p:txBody>
      </p:sp>
      <p:sp>
        <p:nvSpPr>
          <p:cNvPr id="19" name="Source note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ตัวอย่างจาก CQ04: ปราจีนบุรี และ ภูเก็ต · GPP 2567 (2024p) จาก สศช. · สินเชื่อ ก.ค. 2569 จาก ธปท.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10 COMPETENCY QUESTIONS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10 คำถามธุรกิจเป็นตัวกำหนดว่า Data Model ต้องเก็บข้อมูลอะไร และเชื่อมกันอย่างไร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783080"/>
            <a:ext cx="3515258" cy="406908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1831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130552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การเติบโตและบริบทตลาด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CQ01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83464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สินเชื่อ YoY เป็นบวกต่อเนื่อง 12 เดือน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566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CQ02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356616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เงินฝากโตเร็วกว่าสินเชื่อมากที่สุด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2976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CQ05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429768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ยอดรวมเมื่อดอกเบี้ยนโยบายเปลี่ยน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50292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CQ06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502920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สาขาลดลง แต่สินเชื่อเพิ่มขึ้น YoY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338218" y="1783080"/>
            <a:ext cx="3515258" cy="406908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4612538" y="2057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" descr="sc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268" y="2183130"/>
            <a:ext cx="251460" cy="2514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252618" y="2130552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ตัวชี้วัดปรับขนาด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612538" y="2834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CQ03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298338" y="283464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สาขาต่อประชากรแสนคน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4612538" y="3566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CQ08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5298338" y="356616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สินเชื่อต่อเงินฝากสูงสุด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4612538" y="42976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CQ09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5298338" y="429768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เงินฝากต่อประชากรทะเบียน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4612538" y="50292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CQ10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5298338" y="502920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การกระจุกตัวของสินเชื่อ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8127797" y="1783080"/>
            <a:ext cx="3515258" cy="406908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 circle"/>
          <p:cNvSpPr/>
          <p:nvPr/>
        </p:nvSpPr>
        <p:spPr>
          <a:xfrm>
            <a:off x="8402117" y="2057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" descr="fil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847" y="2183130"/>
            <a:ext cx="251460" cy="25146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42197" y="2130552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เทียบและคัดกรองพื้นที่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8402117" y="2834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CQ04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9087917" y="283464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GPP ใกล้กัน สินเชื่อต่างกันเท่าไร</a:t>
            </a:r>
            <a:endParaRPr lang="en-US" sz="1400" dirty="0"/>
          </a:p>
        </p:txBody>
      </p:sp>
      <p:sp>
        <p:nvSpPr>
          <p:cNvPr id="34" name="Text 29"/>
          <p:cNvSpPr txBox="1"/>
          <p:nvPr/>
        </p:nvSpPr>
        <p:spPr>
          <a:xfrm>
            <a:off x="8402117" y="3566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CQ07</a:t>
            </a:r>
            <a:endParaRPr lang="en-US" sz="1400" dirty="0"/>
          </a:p>
        </p:txBody>
      </p:sp>
      <p:sp>
        <p:nvSpPr>
          <p:cNvPr id="35" name="Text 30"/>
          <p:cNvSpPr txBox="1"/>
          <p:nvPr/>
        </p:nvSpPr>
        <p:spPr>
          <a:xfrm>
            <a:off x="9087917" y="3566160"/>
            <a:ext cx="2326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จังหวัดที่ผ่านเกณฑ์ GPP สินเชื่อ และสาขา</a:t>
            </a:r>
            <a:endParaRPr lang="en-US" sz="1400" dirty="0"/>
          </a:p>
        </p:txBody>
      </p:sp>
      <p:sp>
        <p:nvSpPr>
          <p:cNvPr id="36" name="Source note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SQL แหล่งข้อมูล และผลของทุกคำถามอยู่ใน Appendix B–E · YoY = เทียบกับเดือนเดียวกันของปีก่อน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DATA SOURCES &amp; INTEGRATION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รวม 5 แหล่งข้อมูลทางการที่ต่างกันทั้งรูปแบบไฟล์ ความถี่ และวันเผยแพร่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788920"/>
                <a:gridCol w="1143000"/>
                <a:gridCol w="1920240"/>
                <a:gridCol w="300197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แหล่งข้อมูล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ข้อมูลที่ใช้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ความถี่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วิธีดึง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การใช้งานใน mart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ธปท. (FI_CB_011_S5)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สินเชื่อ เงินฝาก จำนวนสาขา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รายเดือน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Web table / HTTP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ครบ 1,925 แถว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กรมการปกครอง (DOPA)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ประชากรตามทะเบียน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รายปี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ไฟล์ TXT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ครบ 1,925 แถว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สศช. (NESDC)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ผลิตภัณฑ์มวลรวมจังหวัด (GPP)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รายปี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XLSX workbook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385 แถว ตามวันเผยแพร่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ธปท. มติ กนง.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อัตราดอกเบี้ยนโยบาย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ตามมติ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XLSX workbook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ครบ ใช้มติล่าสุด ณ สิ้นเดือน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World Bank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เงินเฟ้อระดับประเทศ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รายปี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REST API / JSON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ดึงได้ 66 ค่า ยังไม่ผ่านกฎวันเผยแพร่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548640" y="4709160"/>
            <a:ext cx="351525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 circle"/>
          <p:cNvSpPr/>
          <p:nvPr/>
        </p:nvSpPr>
        <p:spPr>
          <a:xfrm>
            <a:off x="749808" y="4937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li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5052060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53312" y="4892040"/>
            <a:ext cx="2555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Province mapping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353312" y="5212080"/>
            <a:ext cx="2555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แปลงชื่อจังหวัดจากทุกแหล่งเป็นรหัสเดียว และตรวจว่าครบ 77 จังหวัด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338218" y="4709160"/>
            <a:ext cx="351525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4539386" y="4937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" descr="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686" y="505206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42890" y="4892040"/>
            <a:ext cx="2555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As-of temporal join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5142890" y="5212080"/>
            <a:ext cx="2555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ใช้เฉพาะข้อมูลที่เผยแพร่แล้ว ณ สิ้นเดือนนั้น ไม่ใช้ข้อมูลจากอนาคต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8127797" y="4709160"/>
            <a:ext cx="351525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8328965" y="4937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" descr="lay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265" y="505206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32469" y="4892040"/>
            <a:ext cx="2555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Source-grain facts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8932469" y="5212080"/>
            <a:ext cx="2555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เก็บแต่ละแหล่งตามความถี่เดิม แล้วจึงรวมเป็น mart รายเดือน</a:t>
            </a:r>
            <a:endParaRPr lang="en-US" sz="1200" dirty="0"/>
          </a:p>
        </p:txBody>
      </p:sp>
      <p:sp>
        <p:nvSpPr>
          <p:cNvPr id="20" name="Source note"/>
          <p:cNvSpPr txBox="1"/>
          <p:nvPr/>
        </p:nvSpPr>
        <p:spPr>
          <a:xfrm>
            <a:off x="548640" y="60167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GPP ขาดในเดือนแรกๆ เพราะ GPP 2024p เผยแพร่หลังเดือนเหล่านั้น · ข้อมูลเงินเฟ้อพร้อม pipeline แต่ยังไม่มีค่าที่ใช้ได้ในช่วงข้อมูลนี้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DATA MODEL &amp; ANALYTICAL GRAIN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หนึ่งแถวใน mart = หนึ่งจังหวัดในหนึ่งเดือน พร้อมบริบทรายปีตามกฎ as-of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Source-grain facts</a:t>
            </a:r>
            <a:endParaRPr lang="en-US" sz="1200" dirty="0"/>
          </a:p>
        </p:txBody>
      </p:sp>
      <p:sp>
        <p:nvSpPr>
          <p:cNvPr id="5" name="fact_bank_month"/>
          <p:cNvSpPr/>
          <p:nvPr/>
        </p:nvSpPr>
        <p:spPr>
          <a:xfrm>
            <a:off x="548640" y="2103120"/>
            <a:ext cx="274320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103120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fact_bank_month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จังหวัด + เดือน · ธปท.</a:t>
            </a:r>
            <a:endParaRPr lang="en-US" sz="1400" dirty="0"/>
          </a:p>
        </p:txBody>
      </p:sp>
      <p:sp>
        <p:nvSpPr>
          <p:cNvPr id="7" name="fact_population_year"/>
          <p:cNvSpPr/>
          <p:nvPr/>
        </p:nvSpPr>
        <p:spPr>
          <a:xfrm>
            <a:off x="548640" y="2852928"/>
            <a:ext cx="274320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852928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fact_population_year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จังหวัด + ปี · DOPA</a:t>
            </a:r>
            <a:endParaRPr lang="en-US" sz="1400" dirty="0"/>
          </a:p>
        </p:txBody>
      </p:sp>
      <p:sp>
        <p:nvSpPr>
          <p:cNvPr id="9" name="fact_gpp_year"/>
          <p:cNvSpPr/>
          <p:nvPr/>
        </p:nvSpPr>
        <p:spPr>
          <a:xfrm>
            <a:off x="548640" y="3602736"/>
            <a:ext cx="274320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602736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fact_gpp_year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จังหวัด + ปี · สศช.</a:t>
            </a:r>
            <a:endParaRPr lang="en-US" sz="1400" dirty="0"/>
          </a:p>
        </p:txBody>
      </p:sp>
      <p:sp>
        <p:nvSpPr>
          <p:cNvPr id="11" name="fact_macro_year"/>
          <p:cNvSpPr/>
          <p:nvPr/>
        </p:nvSpPr>
        <p:spPr>
          <a:xfrm>
            <a:off x="548640" y="4352544"/>
            <a:ext cx="274320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4352544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fact_macro_year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ปี · World Bank</a:t>
            </a:r>
            <a:endParaRPr lang="en-US" sz="1400" dirty="0"/>
          </a:p>
        </p:txBody>
      </p:sp>
      <p:sp>
        <p:nvSpPr>
          <p:cNvPr id="13" name="fact_policy_event"/>
          <p:cNvSpPr/>
          <p:nvPr/>
        </p:nvSpPr>
        <p:spPr>
          <a:xfrm>
            <a:off x="548640" y="5102352"/>
            <a:ext cx="274320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5102352"/>
            <a:ext cx="25237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fact_policy_event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วันที่มีผล · กนง.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Dimensions</a:t>
            </a:r>
            <a:endParaRPr lang="en-US" sz="1200" dirty="0"/>
          </a:p>
        </p:txBody>
      </p:sp>
      <p:sp>
        <p:nvSpPr>
          <p:cNvPr id="16" name="dim_province"/>
          <p:cNvSpPr/>
          <p:nvPr/>
        </p:nvSpPr>
        <p:spPr>
          <a:xfrm>
            <a:off x="3703320" y="2103120"/>
            <a:ext cx="237744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13048" y="2103120"/>
            <a:ext cx="2157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dim_province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77 จังหวัด</a:t>
            </a:r>
            <a:endParaRPr lang="en-US" sz="1400" dirty="0"/>
          </a:p>
        </p:txBody>
      </p:sp>
      <p:sp>
        <p:nvSpPr>
          <p:cNvPr id="18" name="dim_month"/>
          <p:cNvSpPr/>
          <p:nvPr/>
        </p:nvSpPr>
        <p:spPr>
          <a:xfrm>
            <a:off x="3703320" y="2852928"/>
            <a:ext cx="237744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13048" y="2852928"/>
            <a:ext cx="2157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dim_month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25 เดือน</a:t>
            </a:r>
            <a:endParaRPr lang="en-US" sz="1400" dirty="0"/>
          </a:p>
        </p:txBody>
      </p:sp>
      <p:sp>
        <p:nvSpPr>
          <p:cNvPr id="20" name="mart_province_month"/>
          <p:cNvSpPr/>
          <p:nvPr/>
        </p:nvSpPr>
        <p:spPr>
          <a:xfrm>
            <a:off x="3703320" y="3931920"/>
            <a:ext cx="2377440" cy="12344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13048" y="3931920"/>
            <a:ext cx="21579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mart_province_month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PK: province_code + period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ยอด · อัตราส่วน · ปีอ้างอิง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91840" y="2414016"/>
            <a:ext cx="201168" cy="0"/>
          </a:xfrm>
          <a:prstGeom prst="line">
            <a:avLst/>
          </a:prstGeom>
          <a:noFill/>
          <a:ln w="12700">
            <a:solidFill>
              <a:srgbClr val="5B68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3163824"/>
            <a:ext cx="201168" cy="0"/>
          </a:xfrm>
          <a:prstGeom prst="line">
            <a:avLst/>
          </a:prstGeom>
          <a:noFill/>
          <a:ln w="12700">
            <a:solidFill>
              <a:srgbClr val="5B68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3913632"/>
            <a:ext cx="201168" cy="0"/>
          </a:xfrm>
          <a:prstGeom prst="line">
            <a:avLst/>
          </a:prstGeom>
          <a:noFill/>
          <a:ln w="12700">
            <a:solidFill>
              <a:srgbClr val="5B68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4663440"/>
            <a:ext cx="201168" cy="0"/>
          </a:xfrm>
          <a:prstGeom prst="line">
            <a:avLst/>
          </a:prstGeom>
          <a:noFill/>
          <a:ln w="12700">
            <a:solidFill>
              <a:srgbClr val="5B68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5413248"/>
            <a:ext cx="201168" cy="0"/>
          </a:xfrm>
          <a:prstGeom prst="line">
            <a:avLst/>
          </a:prstGeom>
          <a:noFill/>
          <a:ln w="12700">
            <a:solidFill>
              <a:srgbClr val="5B68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93008" y="2414016"/>
            <a:ext cx="0" cy="2999232"/>
          </a:xfrm>
          <a:prstGeom prst="line">
            <a:avLst/>
          </a:prstGeom>
          <a:noFill/>
          <a:ln w="12700">
            <a:solidFill>
              <a:srgbClr val="5B687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93008" y="4544568"/>
            <a:ext cx="210312" cy="0"/>
          </a:xfrm>
          <a:prstGeom prst="line">
            <a:avLst/>
          </a:prstGeom>
          <a:noFill/>
          <a:ln w="15875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92040" y="3474720"/>
            <a:ext cx="0" cy="457200"/>
          </a:xfrm>
          <a:prstGeom prst="line">
            <a:avLst/>
          </a:prstGeom>
          <a:noFill/>
          <a:ln w="15875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92040" y="5166360"/>
            <a:ext cx="0" cy="365760"/>
          </a:xfrm>
          <a:prstGeom prst="line">
            <a:avLst/>
          </a:prstGeom>
          <a:noFill/>
          <a:ln w="15875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3337560" y="5577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Dashboard  ·  FastAPI / Assistant  ·  Grafana</a:t>
            </a:r>
            <a:endParaRPr lang="en-US" sz="1200" dirty="0"/>
          </a:p>
        </p:txBody>
      </p:sp>
      <p:sp>
        <p:nvSpPr>
          <p:cNvPr id="32" name="Card"/>
          <p:cNvSpPr/>
          <p:nvPr/>
        </p:nvSpPr>
        <p:spPr>
          <a:xfrm>
            <a:off x="6629400" y="1783080"/>
            <a:ext cx="5013655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49440" y="2011680"/>
            <a:ext cx="4373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77 × 25 = 1,925</a:t>
            </a:r>
            <a:endParaRPr lang="en-US" sz="36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2743200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แถวใน mart (จังหวัด × เดือน)</a:t>
            </a:r>
            <a:endParaRPr lang="en-US" sz="1500" dirty="0"/>
          </a:p>
        </p:txBody>
      </p:sp>
      <p:sp>
        <p:nvSpPr>
          <p:cNvPr id="35" name="Icon circle"/>
          <p:cNvSpPr/>
          <p:nvPr/>
        </p:nvSpPr>
        <p:spPr>
          <a:xfrm>
            <a:off x="6629400" y="3749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con" descr="d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0" y="3863340"/>
            <a:ext cx="228600" cy="228600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7269480" y="3749040"/>
            <a:ext cx="4373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ทำไมเป็น Relational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7269480" y="4069080"/>
            <a:ext cx="4373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PostgreSQL รองรับ Join, Aggregate และ Self-join เทียบ YoY ได้ตรงไปตรงมา</a:t>
            </a:r>
            <a:endParaRPr lang="en-US" sz="1300" dirty="0"/>
          </a:p>
        </p:txBody>
      </p:sp>
      <p:sp>
        <p:nvSpPr>
          <p:cNvPr id="39" name="Icon circle"/>
          <p:cNvSpPr/>
          <p:nvPr/>
        </p:nvSpPr>
        <p:spPr>
          <a:xfrm>
            <a:off x="6629400" y="47731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0" name="Icon" descr="lay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4887468"/>
            <a:ext cx="228600" cy="228600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7269480" y="4773168"/>
            <a:ext cx="4373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ทำไมแยก fact ตามความถี่</a:t>
            </a:r>
            <a:endParaRPr lang="en-US" sz="1400" dirty="0"/>
          </a:p>
        </p:txBody>
      </p:sp>
      <p:sp>
        <p:nvSpPr>
          <p:cNvPr id="42" name="Text 38"/>
          <p:cNvSpPr txBox="1"/>
          <p:nvPr/>
        </p:nvSpPr>
        <p:spPr>
          <a:xfrm>
            <a:off x="7269480" y="5093208"/>
            <a:ext cx="4373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ข้อมูลรายปีคงความหมายเดิม และตรวจย้อนได้ว่ามาจากปีใด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Pipeline อัตโนมัติจากแหล่งข้อมูลถึงผู้ใช้ ผ่าน API แบบอ่านอย่างเดียว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783080"/>
            <a:ext cx="1874520" cy="224028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116586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2174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8072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Public sources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1546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ธปท. · DOPA · สศช.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World Bank · กนง.</a:t>
            </a:r>
            <a:endParaRPr lang="en-US" sz="1200" dirty="0"/>
          </a:p>
        </p:txBody>
      </p:sp>
      <p:pic>
        <p:nvPicPr>
          <p:cNvPr id="9" name="Image 1" descr="ถัดไป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59" y="2788920"/>
            <a:ext cx="219456" cy="219456"/>
          </a:xfrm>
          <a:prstGeom prst="rect">
            <a:avLst/>
          </a:prstGeom>
        </p:spPr>
      </p:pic>
      <p:sp>
        <p:nvSpPr>
          <p:cNvPr id="10" name="Card"/>
          <p:cNvSpPr/>
          <p:nvPr/>
        </p:nvSpPr>
        <p:spPr>
          <a:xfrm>
            <a:off x="2853614" y="1783080"/>
            <a:ext cx="1874520" cy="224028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3470834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" descr="ge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854" y="22174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945054" y="28072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ETL + Airflow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2945054" y="31546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Python ตรวจ schema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รันทุกวัน 07:00 น.</a:t>
            </a:r>
            <a:endParaRPr lang="en-US" sz="1200" dirty="0"/>
          </a:p>
        </p:txBody>
      </p:sp>
      <p:pic>
        <p:nvPicPr>
          <p:cNvPr id="15" name="Image 3" descr="ถัดไป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633" y="2788920"/>
            <a:ext cx="219456" cy="219456"/>
          </a:xfrm>
          <a:prstGeom prst="rect">
            <a:avLst/>
          </a:prstGeom>
        </p:spPr>
      </p:pic>
      <p:sp>
        <p:nvSpPr>
          <p:cNvPr id="16" name="Card"/>
          <p:cNvSpPr/>
          <p:nvPr/>
        </p:nvSpPr>
        <p:spPr>
          <a:xfrm>
            <a:off x="5158588" y="1783080"/>
            <a:ext cx="1874520" cy="224028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5775808" y="205740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8" name="Icon" descr="d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5828" y="221742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250028" y="28072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5250028" y="31546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Dimensions · Facts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mart_province_month</a:t>
            </a:r>
            <a:endParaRPr lang="en-US" sz="1200" dirty="0"/>
          </a:p>
        </p:txBody>
      </p:sp>
      <p:pic>
        <p:nvPicPr>
          <p:cNvPr id="21" name="Image 5" descr="ถัดไป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8607" y="2788920"/>
            <a:ext cx="219456" cy="219456"/>
          </a:xfrm>
          <a:prstGeom prst="rect">
            <a:avLst/>
          </a:prstGeom>
        </p:spPr>
      </p:pic>
      <p:sp>
        <p:nvSpPr>
          <p:cNvPr id="22" name="Card"/>
          <p:cNvSpPr/>
          <p:nvPr/>
        </p:nvSpPr>
        <p:spPr>
          <a:xfrm>
            <a:off x="7463561" y="1783080"/>
            <a:ext cx="1874520" cy="224028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 circle"/>
          <p:cNvSpPr/>
          <p:nvPr/>
        </p:nvSpPr>
        <p:spPr>
          <a:xfrm>
            <a:off x="8080781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" descr="api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0801" y="2217420"/>
            <a:ext cx="320040" cy="32004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555001" y="28072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FastAPI</a:t>
            </a:r>
            <a:endParaRPr lang="en-US" sz="1400" dirty="0"/>
          </a:p>
        </p:txBody>
      </p:sp>
      <p:sp>
        <p:nvSpPr>
          <p:cNvPr id="26" name="Text 17"/>
          <p:cNvSpPr txBox="1"/>
          <p:nvPr/>
        </p:nvSpPr>
        <p:spPr>
          <a:xfrm>
            <a:off x="7555001" y="31546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Analytics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Read-only transaction</a:t>
            </a:r>
            <a:endParaRPr lang="en-US" sz="1200" dirty="0"/>
          </a:p>
        </p:txBody>
      </p:sp>
      <p:pic>
        <p:nvPicPr>
          <p:cNvPr id="27" name="Image 7" descr="ถัดไป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3580" y="2788920"/>
            <a:ext cx="219456" cy="219456"/>
          </a:xfrm>
          <a:prstGeom prst="rect">
            <a:avLst/>
          </a:prstGeom>
        </p:spPr>
      </p:pic>
      <p:sp>
        <p:nvSpPr>
          <p:cNvPr id="28" name="Card"/>
          <p:cNvSpPr/>
          <p:nvPr/>
        </p:nvSpPr>
        <p:spPr>
          <a:xfrm>
            <a:off x="9768535" y="1783080"/>
            <a:ext cx="1874520" cy="224028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 circle"/>
          <p:cNvSpPr/>
          <p:nvPr/>
        </p:nvSpPr>
        <p:spPr>
          <a:xfrm>
            <a:off x="10385755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" descr="char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45775" y="2217420"/>
            <a:ext cx="320040" cy="32004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859975" y="28072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Next.js · Grafana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9859975" y="31546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Dashboard · Assistant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Grafana ops monitoring</a:t>
            </a:r>
            <a:endParaRPr lang="en-US" sz="1200" dirty="0"/>
          </a:p>
        </p:txBody>
      </p:sp>
      <p:sp>
        <p:nvSpPr>
          <p:cNvPr id="33" name="Text 22"/>
          <p:cNvSpPr txBox="1"/>
          <p:nvPr/>
        </p:nvSpPr>
        <p:spPr>
          <a:xfrm>
            <a:off x="548640" y="4297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หลักการออกแบบ</a:t>
            </a:r>
            <a:endParaRPr lang="en-US" sz="1400" dirty="0"/>
          </a:p>
        </p:txBody>
      </p:sp>
      <p:sp>
        <p:nvSpPr>
          <p:cNvPr id="34" name="Icon circle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5" name="Icon" descr="ey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" y="4777740"/>
            <a:ext cx="228600" cy="228600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1188720" y="466344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Provenance</a:t>
            </a:r>
            <a:endParaRPr lang="en-US" sz="1400" dirty="0"/>
          </a:p>
        </p:txBody>
      </p:sp>
      <p:sp>
        <p:nvSpPr>
          <p:cNvPr id="37" name="Text 25"/>
          <p:cNvSpPr txBox="1"/>
          <p:nvPr/>
        </p:nvSpPr>
        <p:spPr>
          <a:xfrm>
            <a:off x="1188720" y="4983480"/>
            <a:ext cx="2829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ทุกค่ามีปีอ้างอิง วันเผยแพร่ และเวลาดึงข้อมูลกำกับ</a:t>
            </a:r>
            <a:endParaRPr lang="en-US" sz="1300" dirty="0"/>
          </a:p>
        </p:txBody>
      </p:sp>
      <p:sp>
        <p:nvSpPr>
          <p:cNvPr id="38" name="Icon circle"/>
          <p:cNvSpPr/>
          <p:nvPr/>
        </p:nvSpPr>
        <p:spPr>
          <a:xfrm>
            <a:off x="4338218" y="466344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9" name="Icon" descr="lock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2518" y="4777740"/>
            <a:ext cx="228600" cy="228600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4978298" y="466344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Read-only access</a:t>
            </a:r>
            <a:endParaRPr lang="en-US" sz="1400" dirty="0"/>
          </a:p>
        </p:txBody>
      </p:sp>
      <p:sp>
        <p:nvSpPr>
          <p:cNvPr id="41" name="Text 28"/>
          <p:cNvSpPr txBox="1"/>
          <p:nvPr/>
        </p:nvSpPr>
        <p:spPr>
          <a:xfrm>
            <a:off x="4978298" y="4983480"/>
            <a:ext cx="2829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ผู้ใช้และ Assistant อ่านข้อมูลผ่าน SQL ที่ตรวจแล้วเท่านั้น</a:t>
            </a:r>
            <a:endParaRPr lang="en-US" sz="1300" dirty="0"/>
          </a:p>
        </p:txBody>
      </p:sp>
      <p:sp>
        <p:nvSpPr>
          <p:cNvPr id="42" name="Icon circle"/>
          <p:cNvSpPr/>
          <p:nvPr/>
        </p:nvSpPr>
        <p:spPr>
          <a:xfrm>
            <a:off x="8127797" y="466344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3" name="Icon" descr="cod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42097" y="4777740"/>
            <a:ext cx="228600" cy="228600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8767877" y="466344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Reproducible</a:t>
            </a:r>
            <a:endParaRPr lang="en-US" sz="1400" dirty="0"/>
          </a:p>
        </p:txBody>
      </p:sp>
      <p:sp>
        <p:nvSpPr>
          <p:cNvPr id="45" name="Text 31"/>
          <p:cNvSpPr txBox="1"/>
          <p:nvPr/>
        </p:nvSpPr>
        <p:spPr>
          <a:xfrm>
            <a:off x="8767877" y="4983480"/>
            <a:ext cx="2829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SQL ของ 10 คำถามและผลลัพธ์เก็บไว้ใน repository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FINDING 1 · การกระจุกตัวของสินเชื่อ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สินเชื่อ 76% บันทึกในกรุงเทพฯ จึงต้องเทียบจังหวัดด้วยตัวชี้วัดที่ปรับขนาดแล้ว</a:t>
            </a:r>
            <a:endParaRPr lang="en-US" sz="2400" dirty="0"/>
          </a:p>
        </p:txBody>
      </p:sp>
      <p:graphicFrame>
        <p:nvGraphicFramePr>
          <p:cNvPr id="4" name="Loan share chart" descr=""/>
          <p:cNvGraphicFramePr/>
          <p:nvPr/>
        </p:nvGraphicFramePr>
        <p:xfrm>
          <a:off x="548640" y="1783080"/>
          <a:ext cx="59436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0" y="1783080"/>
            <a:ext cx="4785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83.11%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256032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ของสินเชื่ออยู่ใน 5 จังหวัดแรก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3108960"/>
            <a:ext cx="47850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ยอดบันทึกตามที่ตั้งสาขาและสำนักงานใหญ่ ไม่ใช่ที่อยู่ของผู้กู้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การจัดอันดับด้วยยอดรวมจะได้กรุงเทพฯ และจังหวัดใหญ่ทุกครั้ง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ระบบจึงเพิ่มตัวชี้วัดต่อประชากร ต่อสาขา ต่อเงินฝาก ต่อ GPP และตัวเลือก ‘ไม่รวมกรุงเทพฯ’</a:t>
            </a:r>
            <a:endParaRPr lang="en-US" sz="1400" dirty="0"/>
          </a:p>
        </p:txBody>
      </p:sp>
      <p:sp>
        <p:nvSpPr>
          <p:cNvPr id="8" name="Source note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CQ10 · ยอดคงค้าง ณ สิ้นเดือน ก.ค. 2569 จาก ธปท. · ผลรวมรายจังหวัดอาจต่างจากยอดประเทศเล็กน้อยจากการปัดเศษ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FINDING 2 · ตัวชี้วัดปรับขนาด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เมื่อปรับด้วยประชากรและเงินฝาก ภาพของจังหวัดเปลี่ยนไปจากการดูยอดรวม</a:t>
            </a:r>
            <a:endParaRPr lang="en-US" sz="2400" dirty="0"/>
          </a:p>
        </p:txBody>
      </p:sp>
      <p:graphicFrame>
        <p:nvGraphicFramePr>
          <p:cNvPr id="4" name="Branch density chart" descr=""/>
          <p:cNvGraphicFramePr/>
          <p:nvPr/>
        </p:nvGraphicFramePr>
        <p:xfrm>
          <a:off x="548640" y="1783080"/>
          <a:ext cx="603504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6949440" y="1783080"/>
            <a:ext cx="4693615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223760" y="1965960"/>
            <a:ext cx="4144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127%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2606040"/>
            <a:ext cx="4144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ร้อยเอ็ด: สินเชื่อต่อเงินฝากสูงสุด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2944368"/>
            <a:ext cx="4144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สูงกว่ากรุงเทพฯ (121%) แม้ยอดสินเชื่อเล็กกว่าหลายร้อยเท่า ควรตรวจแหล่งเงินทุนและประเภทสินเชื่อ (CQ08)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949440" y="3886200"/>
            <a:ext cx="4693615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23760" y="4069080"/>
            <a:ext cx="4144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12/12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4709160"/>
            <a:ext cx="4144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ปทุมธานี: สินเชื่อ YoY บวกทุกเดือน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5047488"/>
            <a:ext cx="4144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ขณะที่สาขาลดลง 14 แห่ง (สินเชื่อ YoY +0.73%) สะท้อนการเปลี่ยนช่องทาง ไม่ได้แปลว่าไม่ต้องมีสาขา (CQ01, CQ06)</a:t>
            </a:r>
            <a:endParaRPr lang="en-US" sz="1200" dirty="0"/>
          </a:p>
        </p:txBody>
      </p:sp>
      <p:sp>
        <p:nvSpPr>
          <p:cNvPr id="13" name="Source note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สาขา ก.ค. 2569 ÷ ประชากรทะเบียนปี 2568 × 100,000 · ไม่รวมช่องทางดิจิทัล · อัตราส่วนระดับพื้นที่ ไม่ใช่ของธนาคารรายใด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FINDING 3 · ภาพรวมตลาดและดอกเบี้ย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ดอกเบี้ยนโยบายลดจาก 2.50% เหลือ 1.00% แต่สินเชื่อรวมทรงตัว ขณะที่เงินฝากขึ้นมาแซงสินเชื่อ</a:t>
            </a:r>
            <a:endParaRPr lang="en-US" sz="2400" dirty="0"/>
          </a:p>
        </p:txBody>
      </p:sp>
      <p:graphicFrame>
        <p:nvGraphicFramePr>
          <p:cNvPr id="4" name="Loans and deposits trend" descr=""/>
          <p:cNvGraphicFramePr/>
          <p:nvPr/>
        </p:nvGraphicFramePr>
        <p:xfrm>
          <a:off x="548640" y="1783080"/>
          <a:ext cx="7589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Policy rate trend" descr=""/>
          <p:cNvGraphicFramePr/>
          <p:nvPr/>
        </p:nvGraphicFramePr>
        <p:xfrm>
          <a:off x="548640" y="4754880"/>
          <a:ext cx="758952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ard"/>
          <p:cNvSpPr/>
          <p:nvPr/>
        </p:nvSpPr>
        <p:spPr>
          <a:xfrm>
            <a:off x="8503920" y="1783080"/>
            <a:ext cx="3139135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732520" y="1874520"/>
            <a:ext cx="2681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-0.17%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8732520" y="2331720"/>
            <a:ext cx="2681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สินเชื่อ YoY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8503920" y="2807208"/>
            <a:ext cx="3139135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732520" y="2898648"/>
            <a:ext cx="2681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+3.89%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8732520" y="3355848"/>
            <a:ext cx="2681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เงินฝาก YoY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8503920" y="3831336"/>
            <a:ext cx="3139135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3922776"/>
            <a:ext cx="2681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−5.72%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8732520" y="4379976"/>
            <a:ext cx="2681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สาขา YoY (4,790 → 4,516)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8503920" y="4855464"/>
            <a:ext cx="3139135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732520" y="4946904"/>
            <a:ext cx="2681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6 ครั้ง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8732520" y="5404104"/>
            <a:ext cx="2681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กนง. ลดดอกเบี้ยในช่วงข้อมูล</a:t>
            </a:r>
            <a:endParaRPr lang="en-US" sz="1200" dirty="0"/>
          </a:p>
        </p:txBody>
      </p:sp>
      <p:sp>
        <p:nvSpPr>
          <p:cNvPr id="18" name="Source note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CQ05 · YoY = ก.ค. 2569 เทียบ ก.ค. 2568 · แสดงการเคลื่อนไหวร่วมกันเท่านั้น ไม่ได้พิสูจน์ผลเชิงเหตุของดอกเบี้ยต่อสินเชื่อ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FINDING 4 · การคัดกรองพื้นที่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22 จังหวัดผ่านเกณฑ์ตัวอย่าง โดยระยอง และ ฉะเชิงเทรามีสินเชื่อต่ำที่สุดเมื่อเทียบกับขนาดเศรษฐกิจ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เกณฑ์ CQ07 (ปรับได้ใน Dashboard)</a:t>
            </a:r>
            <a:endParaRPr lang="en-US" sz="1300" dirty="0"/>
          </a:p>
        </p:txBody>
      </p:sp>
      <p:sp>
        <p:nvSpPr>
          <p:cNvPr id="5" name="Card"/>
          <p:cNvSpPr/>
          <p:nvPr/>
        </p:nvSpPr>
        <p:spPr>
          <a:xfrm>
            <a:off x="548640" y="2194560"/>
            <a:ext cx="31089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Image 0" descr="เกณฑ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134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ไม่รวมกรุงเทพฯ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548640" y="2761488"/>
            <a:ext cx="31089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Image 1" descr="เกณฑ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8036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05840" y="27614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GPP ≥ 100,000 ล้านบาท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548640" y="3328416"/>
            <a:ext cx="31089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Image 2" descr="เกณฑ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47288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05840" y="332841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สินเชื่อ ≥ 50,000 ล้านบาท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548640" y="3895344"/>
            <a:ext cx="31089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5" name="Image 3" descr="เกณฑ์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14216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05840" y="389534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สาขา ≤ 15 ต่อแสนคน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46177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อ่านอย่างไร: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อัตราต่ำอาจเกิดจากบริษัทใหญ่ในนิคมฯ บันทึกสินเชื่อที่สำนักงานใหญ่ในกรุงเทพฯ หรือเป็นช่องว่างการให้บริการจริง ต้องตรวจเพิ่มก่อนสรุป</a:t>
            </a:r>
            <a:endParaRPr lang="en-US" sz="1200" dirty="0"/>
          </a:p>
        </p:txBody>
      </p:sp>
      <p:graphicFrame>
        <p:nvGraphicFramePr>
          <p:cNvPr id="18" name="Loans to GPP chart" descr=""/>
          <p:cNvGraphicFramePr/>
          <p:nvPr/>
        </p:nvGraphicFramePr>
        <p:xfrm>
          <a:off x="3977640" y="1737360"/>
          <a:ext cx="766541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Source note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สินเชื่อ ก.ค. 2569 ÷ GPP 2567 (2024p) คำนวณจากผล CQ07 · ช่วงเวลาอ้างอิงต่างกัน ใช้เทียบระหว่างจังหวัด ไม่ใช่อัตราส่วนทางเศรษฐศาสตร์ที่สมบูรณ์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DASHBOARD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Dashboard ให้ผู้ใช้สำรวจตลาด ปรับเกณฑ์ และตรวจที่มาของตัวเลขได้เอง</a:t>
            </a:r>
            <a:endParaRPr lang="en-US" sz="2400" dirty="0"/>
          </a:p>
        </p:txBody>
      </p:sp>
      <p:pic>
        <p:nvPicPr>
          <p:cNvPr id="4" name="ภาพรวมตลาด" descr="ภาพรวมตลา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871" y="1783080"/>
            <a:ext cx="5033865" cy="29718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48640" y="493776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ภาพรวมตลาด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76088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KPI, แนวโน้มสินเชื่อ/เงินฝาก, ดอกเบี้ยนโยบาย และการกระจุกตัว</a:t>
            </a:r>
            <a:endParaRPr lang="en-US" sz="1300" dirty="0"/>
          </a:p>
        </p:txBody>
      </p:sp>
      <p:pic>
        <p:nvPicPr>
          <p:cNvPr id="7" name="คัดกรองพื้นที่" descr="คัดกรองพื้นที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83080"/>
            <a:ext cx="5364328" cy="267139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6278728" y="493776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คัดกรองพื้นที่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278728" y="5276088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ปรับเกณฑ์ เห็นปีอ้างอิงของ GPP/ประชากร และดาวน์โหลด CSV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5 หน้าหลัก: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ภาพรวมตลาด  ·  วิเคราะห์จังหวัด (เทียบได้ 4 จังหวัด)  ·  ผู้ช่วยวิเคราะห์  ·  คำถามธุรกิจ + SQL  ·  แหล่งข้อมูลและคุณภาพ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AI ASSISTANT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AI Assistant ตอบคำถามภาษาไทย โดย LLM เลือกเจตนาและวางแผน แต่ไม่ได้เขียน SQL เอง</a:t>
            </a:r>
            <a:endParaRPr lang="en-US" sz="2400" dirty="0"/>
          </a:p>
        </p:txBody>
      </p:sp>
      <p:sp>
        <p:nvSpPr>
          <p:cNvPr id="4" name="Icon circle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com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9088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7647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คำถาม + บริบทที่ยืนยันแล้ว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จำ metric, ตัวกรอง และงวดของคำตอบก่อนหน้า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0100" y="2331720"/>
            <a:ext cx="0" cy="256032"/>
          </a:xfrm>
          <a:prstGeom prst="line">
            <a:avLst/>
          </a:prstGeom>
          <a:noFill/>
          <a:ln w="12700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9" name="Icon circle"/>
          <p:cNvSpPr/>
          <p:nvPr/>
        </p:nvSpPr>
        <p:spPr>
          <a:xfrm>
            <a:off x="548640" y="262432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ro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2750058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26060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Gemini router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28986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เลือก: วิเคราะห์ / อธิบาย / ถามกลับ / เปลี่ยนการแสดงผล / ปฏิเสธ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00100" y="3172968"/>
            <a:ext cx="0" cy="256032"/>
          </a:xfrm>
          <a:prstGeom prst="line">
            <a:avLst/>
          </a:prstGeom>
          <a:noFill/>
          <a:ln w="12700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14" name="Icon circle"/>
          <p:cNvSpPr/>
          <p:nvPr/>
        </p:nvSpPr>
        <p:spPr>
          <a:xfrm>
            <a:off x="548640" y="346557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on" descr="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3591306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34472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Hybrid planner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234440" y="37398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Semantic rules ก่อน แล้วใช้ LLM structured output เมื่อ rules ไม่เข้าใจ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00100" y="4014216"/>
            <a:ext cx="0" cy="256032"/>
          </a:xfrm>
          <a:prstGeom prst="line">
            <a:avLst/>
          </a:prstGeom>
          <a:noFill/>
          <a:ln w="12700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19" name="Icon circle"/>
          <p:cNvSpPr/>
          <p:nvPr/>
        </p:nvSpPr>
        <p:spPr>
          <a:xfrm>
            <a:off x="548640" y="43068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" descr="shiel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4432554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42885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234440" y="45811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QueryPlan (Pydantic) → SQL compiler → SQLGlot → read-only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00100" y="4855464"/>
            <a:ext cx="0" cy="256032"/>
          </a:xfrm>
          <a:prstGeom prst="line">
            <a:avLst/>
          </a:prstGeom>
          <a:noFill/>
          <a:ln w="12700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24" name="Icon circle"/>
          <p:cNvSpPr/>
          <p:nvPr/>
        </p:nvSpPr>
        <p:spPr>
          <a:xfrm>
            <a:off x="548640" y="514807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" descr="cha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5273802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34440" y="51297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คำตอบ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1234440" y="54223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ตัวเลข กราฟ ตาราง SQL และแหล่งข้อมูล</a:t>
            </a:r>
            <a:endParaRPr lang="en-US" sz="1200" dirty="0"/>
          </a:p>
        </p:txBody>
      </p:sp>
      <p:pic>
        <p:nvPicPr>
          <p:cNvPr id="28" name="Assistant screenshot" descr="Assistant ถามกลับเมื่อคำถามกำกวม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783080"/>
            <a:ext cx="5242255" cy="2476129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pic>
      <p:sp>
        <p:nvSpPr>
          <p:cNvPr id="29" name="Text 21"/>
          <p:cNvSpPr txBox="1"/>
          <p:nvPr/>
        </p:nvSpPr>
        <p:spPr>
          <a:xfrm>
            <a:off x="6400800" y="4442089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ถามกลับเมื่อตัวหารกำกวม แทนการเดา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6400800" y="4789561"/>
            <a:ext cx="5242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เช่น ‘สินเชื่อเทียบกับสาขาและประชากร’ ระบบให้เลือกว่าจะจัดอันดับด้วยสินเชื่อต่อประชากรหรือต่อสาขา</a:t>
            </a:r>
            <a:endParaRPr lang="en-US" sz="1200" dirty="0"/>
          </a:p>
        </p:txBody>
      </p:sp>
      <p:sp>
        <p:nvSpPr>
          <p:cNvPr id="31" name="Source note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คำถามนอกขอบเขต เช่น NPL หรือข้อมูลรายธนาคาร ถูกปฏิเสธก่อนเรียก LLM · ไม่มี API key ก็ยังใช้ rules-based analytics ได้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ตรวจสอบทั้งข้อมูล ตัวเลข และพฤติกรรมของ Assistant โดยรายงานผลแยกตามประเภทหลักฐาน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783080"/>
            <a:ext cx="2567864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170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70632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Regression tests ผ่าน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ทดสอบกับฐานข้อมูลจริงในเครื่อง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3390824" y="1783080"/>
            <a:ext cx="2567864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9424" y="201168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80/80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619424" y="2770632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คำถามไทยแบบ offline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19424" y="31546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ตรวจ status, แผน และตัวเลขด้วยการคำนวณอิสระ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6233008" y="1783080"/>
            <a:ext cx="2567864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1608" y="201168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14/14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461608" y="2770632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Held-out planner: hybrid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61608" y="31546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เทียบกับ LLM-only ที่ผ่าน 6/14 จึงเลือกใช้ hybrid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9075191" y="1783080"/>
            <a:ext cx="2567864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03791" y="201168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7/7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9303791" y="2770632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Live conversation smoke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303791" y="31546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Gemini router + บริบทข้ามรอบ ผ่าน HTTP จริง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06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การตรวจข้อมูลใน pipeline</a:t>
            </a:r>
            <a:endParaRPr lang="en-US" sz="1400" dirty="0"/>
          </a:p>
        </p:txBody>
      </p:sp>
      <p:pic>
        <p:nvPicPr>
          <p:cNvPr id="21" name="Image 0" descr="ผ่า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63440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914400" y="461772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Province mapping ครบ 77 จังหวัด</a:t>
            </a:r>
            <a:endParaRPr lang="en-US" sz="1400" dirty="0"/>
          </a:p>
        </p:txBody>
      </p:sp>
      <p:pic>
        <p:nvPicPr>
          <p:cNvPr id="23" name="Image 1" descr="ผ่าน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4663440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583680" y="461772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Key ไม่ซ้ำ และจำนวนแถวหลัง Join ถูกต้อง</a:t>
            </a:r>
            <a:endParaRPr lang="en-US" sz="1400" dirty="0"/>
          </a:p>
        </p:txBody>
      </p:sp>
      <p:pic>
        <p:nvPicPr>
          <p:cNvPr id="25" name="Image 2" descr="ผ่าน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166360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14400" y="51206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หน่วยและการแปลงหน่วย</a:t>
            </a:r>
            <a:endParaRPr lang="en-US" sz="1400" dirty="0"/>
          </a:p>
        </p:txBody>
      </p:sp>
      <p:pic>
        <p:nvPicPr>
          <p:cNvPr id="27" name="Image 3" descr="ผ่าน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5166360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583680" y="51206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ผลคำนวณเทียบกับการคำนวณอิสระ</a:t>
            </a:r>
            <a:endParaRPr lang="en-US" sz="1400" dirty="0"/>
          </a:p>
        </p:txBody>
      </p:sp>
      <p:sp>
        <p:nvSpPr>
          <p:cNvPr id="29" name="Source note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ตัวเลขแต่ละชุดมีตัวหารต่างกัน จึงไม่รวมเป็น ‘ความแม่นยำ’ ตัวเดียว · รายละเอียดใน Appendix 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LIMITATIONS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ข้อจำกัดที่ต้องรู้ก่อนนำผลไปใช้ตัดสินใจ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548640" y="1783080"/>
            <a:ext cx="3515258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" descr="ba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1259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05740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ที่ตั้งบันทึก ≠ ที่อยู่ผู้กู้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24328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ยอดของกรุงเทพฯ รวมสินเชื่อที่บันทึกที่สำนักงานใหญ่ จึงควรดูผลแบบไม่รวมกรุงเทพฯ ประกอบ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338218" y="1783080"/>
            <a:ext cx="3515258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66818" y="20116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con" descr="us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118" y="21259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1178" y="205740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ประชากรทะเบียน ≠ ลูกค้า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624328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ไม่สะท้อนประชากรแฝงหรือนักท่องเที่ยว และจำนวนสาขาไม่รวมช่องทางดิจิทัล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8127797" y="1783080"/>
            <a:ext cx="3515258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356397" y="20116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con" descr="calend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697" y="212598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50757" y="205740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บริบทรายปีล่าช้า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56397" y="2624328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ใช้ GPP 2024p กับยอดปี 2569 และ GPP ขาดใน 1,540 แถวช่วงต้นตามกฎวันเผยแพร่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548640" y="3931920"/>
            <a:ext cx="3515258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con" descr="glob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427482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420624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เงินเฟ้อยังไม่มีค่าใช้ได้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773168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ดึงจาก World Bank ได้ 66 ค่า แต่ไม่มีค่าที่เผยแพร่ทันช่วงข้อมูลนี้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4338218" y="3931920"/>
            <a:ext cx="3515258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4566818" y="41605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6" name="Icon" descr="rob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118" y="427482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61178" y="420624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Assistant ยังเป็น prototype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566818" y="4773168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Router ผ่าน smoke test แต่ยังไม่ประเมินกับคำถามหลากหลาย ยังไม่มีระบบสิทธิ์ผู้ใช้</a:t>
            </a:r>
            <a:endParaRPr lang="en-US" sz="1300" dirty="0"/>
          </a:p>
        </p:txBody>
      </p:sp>
      <p:sp>
        <p:nvSpPr>
          <p:cNvPr id="29" name="Card"/>
          <p:cNvSpPr/>
          <p:nvPr/>
        </p:nvSpPr>
        <p:spPr>
          <a:xfrm>
            <a:off x="8127797" y="3931920"/>
            <a:ext cx="3515258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8356397" y="41605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1" name="Icon" descr="coin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0697" y="427482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50757" y="4206240"/>
            <a:ext cx="2509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ไม่มีข้อมูลระดับลูกค้า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356397" y="4773168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ไม่มีต้นทุน คุณภาพสินเชื่อ ส่วนแบ่งตลาดรายธนาคาร จึงใช้คัดกรองเท่านั้น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RECOMMENDATIONS &amp; 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ใช้ระบบเป็นจุดเริ่มของการเลือกพื้นที่ แล้วเติมข้อมูลที่ยังขาดก่อนตัดสินใจ</a:t>
            </a:r>
            <a:endParaRPr lang="en-US" sz="2600" dirty="0"/>
          </a:p>
        </p:txBody>
      </p:sp>
      <p:sp>
        <p:nvSpPr>
          <p:cNvPr id="4" name="ด้านธุรกิจ"/>
          <p:cNvSpPr/>
          <p:nvPr/>
        </p:nvSpPr>
        <p:spPr>
          <a:xfrm>
            <a:off x="548640" y="1965960"/>
            <a:ext cx="5364328" cy="3246120"/>
          </a:xfrm>
          <a:prstGeom prst="roundRect">
            <a:avLst>
              <a:gd name="adj" fmla="val 22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868680" y="2240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774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313432"/>
            <a:ext cx="408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ด้านธุรกิจ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017520"/>
            <a:ext cx="47242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ใช้ 22 จังหวัดเป็น long list แล้วเลือก 3–5 จังหวัดศึกษาเชิงลึก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เริ่มจากกลุ่มสินเชื่อต่ำเทียบ GPP (ระยอง ฉะเชิงเทรา อยุธยา) และกลุ่มสาขาต่อประชากรต่ำ (อุบลราชธานี อุดรธานี)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เติมข้อมูลคู่แข่ง การใช้ช่องทางดิจิทัล ต้นทุน และคุณภาพสินเชื่อ</a:t>
            </a:r>
            <a:endParaRPr lang="en-US" sz="1500" dirty="0"/>
          </a:p>
        </p:txBody>
      </p:sp>
      <p:sp>
        <p:nvSpPr>
          <p:cNvPr id="9" name="ด้านระบบ"/>
          <p:cNvSpPr/>
          <p:nvPr/>
        </p:nvSpPr>
        <p:spPr>
          <a:xfrm>
            <a:off x="6278728" y="1965960"/>
            <a:ext cx="5364328" cy="3246120"/>
          </a:xfrm>
          <a:prstGeom prst="roundRect">
            <a:avLst>
              <a:gd name="adj" fmla="val 22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6598768" y="2240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ge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928" y="23774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30288" y="2313432"/>
            <a:ext cx="408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ด้านระบบ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598768" y="3017520"/>
            <a:ext cx="47242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ประเมิน conversation router ด้วยชุดคำถามที่ใหญ่และหลากหลายขึ้น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เพิ่ม authentication สิทธิ์ผู้ใช้ และนโยบายเก็บประวัติแชต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ประกาศ Foreign Key และติดตาม scheduled runs ต่อเนื่อง 1 เดือน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Questions &amp; Discussion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Appendix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รายละเอียดสำหรับตอบคำถาม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  Logical schema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27432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B  CQ mapping (CQ01–CQ05)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101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  CQ mapping (CQ06–CQ10)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33101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  SQL: CQ01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7705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  SQL: CQ03 และ CQ07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87705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  AI evaluation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4398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  Data contract และแหล่งข้อมูล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APPENDIX 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Logical schema: ตารางหลักและ Primary Keys</a:t>
            </a:r>
            <a:endParaRPr lang="en-US" sz="2400" dirty="0"/>
          </a:p>
        </p:txBody>
      </p:sp>
      <p:sp>
        <p:nvSpPr>
          <p:cNvPr id="4" name="dim_province"/>
          <p:cNvSpPr/>
          <p:nvPr/>
        </p:nvSpPr>
        <p:spPr>
          <a:xfrm>
            <a:off x="548640" y="1783080"/>
            <a:ext cx="3200400" cy="82296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dim_province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province_code PK · name_th</a:t>
            </a:r>
            <a:endParaRPr lang="en-US" sz="1400" dirty="0"/>
          </a:p>
        </p:txBody>
      </p:sp>
      <p:sp>
        <p:nvSpPr>
          <p:cNvPr id="6" name="dim_month"/>
          <p:cNvSpPr/>
          <p:nvPr/>
        </p:nvSpPr>
        <p:spPr>
          <a:xfrm>
            <a:off x="4495648" y="1783080"/>
            <a:ext cx="3200400" cy="82296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87088" y="1783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dim_month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period PK · year · month</a:t>
            </a:r>
            <a:endParaRPr lang="en-US" sz="1400" dirty="0"/>
          </a:p>
        </p:txBody>
      </p:sp>
      <p:sp>
        <p:nvSpPr>
          <p:cNvPr id="8" name="fact_bank_month"/>
          <p:cNvSpPr/>
          <p:nvPr/>
        </p:nvSpPr>
        <p:spPr>
          <a:xfrm>
            <a:off x="548640" y="3063240"/>
            <a:ext cx="3200400" cy="9144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63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fact_bank_month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PK province_code + period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credits · deposits · branches</a:t>
            </a:r>
            <a:endParaRPr lang="en-US" sz="1400" dirty="0"/>
          </a:p>
        </p:txBody>
      </p:sp>
      <p:sp>
        <p:nvSpPr>
          <p:cNvPr id="10" name="fact_population_year"/>
          <p:cNvSpPr/>
          <p:nvPr/>
        </p:nvSpPr>
        <p:spPr>
          <a:xfrm>
            <a:off x="4495648" y="3063240"/>
            <a:ext cx="3200400" cy="9144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7088" y="3063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fact_population_year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PK province_code + year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population</a:t>
            </a:r>
            <a:endParaRPr lang="en-US" sz="1400" dirty="0"/>
          </a:p>
        </p:txBody>
      </p:sp>
      <p:sp>
        <p:nvSpPr>
          <p:cNvPr id="12" name="fact_gpp_year"/>
          <p:cNvSpPr/>
          <p:nvPr/>
        </p:nvSpPr>
        <p:spPr>
          <a:xfrm>
            <a:off x="8442655" y="3063240"/>
            <a:ext cx="3200400" cy="9144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34095" y="3063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fact_gpp_year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PK province_code + year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gpp · last_modified</a:t>
            </a:r>
            <a:endParaRPr lang="en-US" sz="1400" dirty="0"/>
          </a:p>
        </p:txBody>
      </p:sp>
      <p:sp>
        <p:nvSpPr>
          <p:cNvPr id="14" name="fact_macro_year"/>
          <p:cNvSpPr/>
          <p:nvPr/>
        </p:nvSpPr>
        <p:spPr>
          <a:xfrm>
            <a:off x="548640" y="4434840"/>
            <a:ext cx="3200400" cy="9144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fact_macro_year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PK reference_year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inflation · last_updated</a:t>
            </a:r>
            <a:endParaRPr lang="en-US" sz="1400" dirty="0"/>
          </a:p>
        </p:txBody>
      </p:sp>
      <p:sp>
        <p:nvSpPr>
          <p:cNvPr id="16" name="mart_province_month"/>
          <p:cNvSpPr/>
          <p:nvPr/>
        </p:nvSpPr>
        <p:spPr>
          <a:xfrm>
            <a:off x="4495648" y="4434840"/>
            <a:ext cx="3200400" cy="9144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87088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mart_province_month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PK province_code + period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ratios · context reference years</a:t>
            </a:r>
            <a:endParaRPr lang="en-US" sz="1400" dirty="0"/>
          </a:p>
        </p:txBody>
      </p:sp>
      <p:sp>
        <p:nvSpPr>
          <p:cNvPr id="18" name="fact_policy_event"/>
          <p:cNvSpPr/>
          <p:nvPr/>
        </p:nvSpPr>
        <p:spPr>
          <a:xfrm>
            <a:off x="8442655" y="4434840"/>
            <a:ext cx="3200400" cy="9144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34095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fact_policy_event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PK event_date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policy_rate · decision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148840" y="2606040"/>
            <a:ext cx="0" cy="457200"/>
          </a:xfrm>
          <a:prstGeom prst="line">
            <a:avLst/>
          </a:prstGeom>
          <a:noFill/>
          <a:ln w="12700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095848" y="3977640"/>
            <a:ext cx="0" cy="457200"/>
          </a:xfrm>
          <a:prstGeom prst="line">
            <a:avLst/>
          </a:prstGeom>
          <a:noFill/>
          <a:ln w="12700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749040" y="4892040"/>
            <a:ext cx="746608" cy="0"/>
          </a:xfrm>
          <a:prstGeom prst="line">
            <a:avLst/>
          </a:prstGeom>
          <a:noFill/>
          <a:ln w="12700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96048" y="4892040"/>
            <a:ext cx="746608" cy="0"/>
          </a:xfrm>
          <a:prstGeom prst="line">
            <a:avLst/>
          </a:prstGeom>
          <a:noFill/>
          <a:ln w="12700">
            <a:solidFill>
              <a:srgbClr val="5B6878"/>
            </a:solidFill>
            <a:prstDash val="solid"/>
            <a:headEnd type="triangle"/>
          </a:ln>
        </p:spPr>
      </p:sp>
      <p:sp>
        <p:nvSpPr>
          <p:cNvPr id="24" name="Shape 22"/>
          <p:cNvSpPr/>
          <p:nvPr/>
        </p:nvSpPr>
        <p:spPr>
          <a:xfrm>
            <a:off x="2148840" y="3977640"/>
            <a:ext cx="0" cy="228600"/>
          </a:xfrm>
          <a:prstGeom prst="line">
            <a:avLst/>
          </a:prstGeom>
          <a:noFill/>
          <a:ln w="12700">
            <a:solidFill>
              <a:srgbClr val="5B68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48840" y="4206240"/>
            <a:ext cx="2895448" cy="0"/>
          </a:xfrm>
          <a:prstGeom prst="line">
            <a:avLst/>
          </a:prstGeom>
          <a:noFill/>
          <a:ln w="12700">
            <a:solidFill>
              <a:srgbClr val="5B68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44288" y="4206240"/>
            <a:ext cx="0" cy="228600"/>
          </a:xfrm>
          <a:prstGeom prst="line">
            <a:avLst/>
          </a:prstGeom>
          <a:noFill/>
          <a:ln w="12700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042855" y="3977640"/>
            <a:ext cx="0" cy="228600"/>
          </a:xfrm>
          <a:prstGeom prst="line">
            <a:avLst/>
          </a:prstGeom>
          <a:noFill/>
          <a:ln w="12700">
            <a:solidFill>
              <a:srgbClr val="5B687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47408" y="4206240"/>
            <a:ext cx="2895448" cy="0"/>
          </a:xfrm>
          <a:prstGeom prst="line">
            <a:avLst/>
          </a:prstGeom>
          <a:noFill/>
          <a:ln w="12700">
            <a:solidFill>
              <a:srgbClr val="5B68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47408" y="4206240"/>
            <a:ext cx="0" cy="228600"/>
          </a:xfrm>
          <a:prstGeom prst="line">
            <a:avLst/>
          </a:prstGeom>
          <a:noFill/>
          <a:ln w="12700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30" name="Source note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เส้นแสดง logical joins ด้วย province_code และ period ตาม grain ของตาราง · บริบทรายปีและรายมติใช้กฎ as-of · ระบบมี Primary Keys แต่ยังไม่ได้ประกาศ Foreign Key constraints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APPENDIX B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CQ mapping (1/2): แหล่งข้อมูล วิธี Query และผลที่บันทึก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011680"/>
                <a:gridCol w="4023360"/>
                <a:gridCol w="423641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CQ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แหล่งข้อมูล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Query logic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ผลที่บันทึก (ก.ค. 2569)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CQ01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Self-join เดือนเดียวกันปีก่อน + COUNT / AVG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ปทุมธานี 12/12 เดือน; เฉลี่ย +1.47%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CQ02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Self-join + ผลต่าง YoY (จุดเปอร์เซ็นต์)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ร้อยเอ็ด ต่างกัน 13.14 จุด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CQ03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BOT + DOPA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สาขา ÷ ประชากร × 100,000 + ranking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กรุงเทพฯ 22.98 สาขาต่อแสนคน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CQ04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BOT + NESDC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จับคู่จังหวัด GPP ต่าง ≤ 15% ของค่าที่มากกว่า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ปราจีนบุรี–ภูเก็ต: สินเชื่อต่าง 5.44 เท่า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CQ05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BOT + MPC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SUM รายเดือน + ดอกเบี้ย as-of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 เดือน; ดอกเบี้ย 2.50% → 1.00%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Source note"/>
          <p:cNvSpPr txBox="1"/>
          <p:nvPr/>
        </p:nvSpPr>
        <p:spPr>
          <a:xfrm>
            <a:off x="548640" y="5486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CQ01 ต้องมีคู่ข้อมูลครบ 12 เดือน · CQ04 ใช้ GPP 2024p กับสินเชื่อ ก.ค. 2569 · CQ05 อธิบายการเคลื่อนไหวร่วมกันเท่านั้น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APPENDIX 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CQ mapping (2/2): แหล่งข้อมูล วิธี Query และผลที่บันทึก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011680"/>
                <a:gridCol w="4023360"/>
                <a:gridCol w="423641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CQ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แหล่งข้อมูล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Query logic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ผลที่บันทึก (ก.ค. 2569)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CQ06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Self-join: สาขาลด และสินเชื่อเพิ่ม YoY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 จังหวัด; ปทุมธานี −14 สาขา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CQ07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BOT + DOPA + NESDC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AND เงื่อนไข GPP / สาขา / สินเชื่อ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 จังหวัด (ไม่รวมกรุงเทพฯ)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CQ08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สินเชื่อ ÷ เงินฝาก × 100 + ranking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ร้อยเอ็ด 127.36%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CQ09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BOT + DOPA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เงินฝาก × 1,000,000 ÷ ประชากร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กรุงเทพฯ 2.11 ล้านบาท/คน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CQ10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ROW_NUMBER + SUM / share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กรุงเทพฯ 76.38%; Top 5 83.11%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Source note"/>
          <p:cNvSpPr txBox="1"/>
          <p:nvPr/>
        </p:nvSpPr>
        <p:spPr>
          <a:xfrm>
            <a:off x="548640" y="5486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CQ07 เป็นเกณฑ์ตัวอย่าง · CQ08 เป็นอัตราส่วนระดับพื้นที่ · CQ09 ใช้ประชากรทะเบียน ไม่ใช่เงินออมรายบุคคล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APPENDIX 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SQL CQ01: เทียบจังหวัดเดียวกันกับเดือนเดียวกันของปีก่อน</a:t>
            </a:r>
            <a:endParaRPr lang="en-US" sz="2400" dirty="0"/>
          </a:p>
        </p:txBody>
      </p:sp>
      <p:sp>
        <p:nvSpPr>
          <p:cNvPr id="4" name="Code block"/>
          <p:cNvSpPr/>
          <p:nvPr/>
        </p:nvSpPr>
        <p:spPr>
          <a:xfrm>
            <a:off x="548640" y="1783080"/>
            <a:ext cx="11094415" cy="3840480"/>
          </a:xfrm>
          <a:prstGeom prst="roundRect">
            <a:avLst>
              <a:gd name="adj" fmla="val 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1063721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yoy AS (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n.province_code, n.name_th, n.period,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100.0 * (n.credits_million_baht - p.credits_million_baht)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 NULLIF(p.credits_million_baht, 0) AS yoy_pct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mart_province_month 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mart_province_month p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p.province_code = n.province_code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p.period = (n.period - INTERVAL '1 year')::date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n.period &gt;= (SELECT MAX(period) - INTERVAL '11 months' FROM mart_province_month)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name_th,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COUNT(*) FILTER (WHERE yoy_pct &gt; 0) AS positive_months,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COUNT(*) AS observed_months,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ROUND(AVG(yoy_pct)::numeric, 2) AS average_yoy_pct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yoy GROUP BY province_code, name_th HAVING COUNT(*) = 12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positive_months DESC, average_yoy_pct DESC, name_th LIMIT 10;</a:t>
            </a:r>
            <a:endParaRPr lang="en-US" sz="1200" dirty="0"/>
          </a:p>
        </p:txBody>
      </p:sp>
      <p:sp>
        <p:nvSpPr>
          <p:cNvPr id="6" name="Source note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นับเดือนที่ YoY เป็นบวก โดยต้องมีคู่ข้อมูลครบ 12 เดือน · อันดับแรก: ปทุมธานี 12/12 เดือน เฉลี่ย +1.47%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APPENDIX 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SQL CQ03 และ CQ07: ranking และการคัดกรองจาก mart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CQ03 · ความหนาแน่นสาขา</a:t>
            </a:r>
            <a:endParaRPr lang="en-US" sz="1400" dirty="0"/>
          </a:p>
        </p:txBody>
      </p:sp>
      <p:sp>
        <p:nvSpPr>
          <p:cNvPr id="5" name="Code block"/>
          <p:cNvSpPr/>
          <p:nvPr/>
        </p:nvSpPr>
        <p:spPr>
          <a:xfrm>
            <a:off x="548640" y="2194560"/>
            <a:ext cx="5410048" cy="3566160"/>
          </a:xfrm>
          <a:prstGeom prst="roundRect">
            <a:avLst>
              <a:gd name="adj" fmla="val 153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49528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name_th, branches, population,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population_reference_year,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ROUND(branches_per_100k::numeric, 2)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AS branches_per_100k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mart_province_month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period = (SELECT MAX(period)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FROM mart_province_month)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branches_per_100k IS NOT NULL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branches_per_100k DESC,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province_code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10;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33008" y="178308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CQ07 · คัดกรองหลายเงื่อนไข</a:t>
            </a:r>
            <a:endParaRPr lang="en-US" sz="1400" dirty="0"/>
          </a:p>
        </p:txBody>
      </p:sp>
      <p:sp>
        <p:nvSpPr>
          <p:cNvPr id="8" name="Code block"/>
          <p:cNvSpPr/>
          <p:nvPr/>
        </p:nvSpPr>
        <p:spPr>
          <a:xfrm>
            <a:off x="6233008" y="2194560"/>
            <a:ext cx="5410048" cy="3566160"/>
          </a:xfrm>
          <a:prstGeom prst="roundRect">
            <a:avLst>
              <a:gd name="adj" fmla="val 153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61608" y="2377440"/>
            <a:ext cx="49528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name_th, gpp_million_baht,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credits_million_baht,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ROUND(branches_per_100k::numeric, 2)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AS branches_per_100k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mart_province_month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period = (SELECT MAX(period)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FROM mart_province_month)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province_code &lt;&gt; 10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gpp_million_baht &gt;= 100000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branches_per_100k &lt;= 15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credits_million_baht &gt;= 50000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gpp_million_baht DESC, province_code;</a:t>
            </a:r>
            <a:endParaRPr lang="en-US" sz="1200" dirty="0"/>
          </a:p>
        </p:txBody>
      </p:sp>
      <p:sp>
        <p:nvSpPr>
          <p:cNvPr id="10" name="Source note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province_code 10 = กรุงเทพมหานคร · เกณฑ์ CQ07 ปรับได้ในหน้า ‘คัดกรองพื้นที่’ ของ Dashboard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APPENDIX F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AI evaluation: แยก regression, planner benchmark และ conversation routing</a:t>
            </a:r>
            <a:endParaRPr lang="en-US" sz="2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566160"/>
                <a:gridCol w="4419295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หลักฐาน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ผลที่บันทึก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สิ่งที่ยังไม่ได้พิสูจน์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Python regression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170 tests ผ่าน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ความแม่นยำภาษาธรรมชาติทั่วไป / production readiness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Offline Thai analytics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80/80 ผ่าน status, plan, ตัวเลข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ความแม่นยำของ LLM แบบ live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Held-out planner: rules / hybrid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14/14 ทั้งสองแบบ; 0 model calls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ความแม่นยำของ Gemini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Held-out planner: LLM-only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6/14 all-checks; 8/10 numeric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ตัวหารต่างกัน ไม่ควรรวมเป็น % เดียว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Live conversation smoke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 turns ผ่าน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การประเมิน router แบบครอบคลุม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Source note"/>
          <p:cNvSpPr txBox="1"/>
          <p:nvPr/>
        </p:nvSpPr>
        <p:spPr>
          <a:xfrm>
            <a:off x="548640" y="5486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Planner benchmark ใช้ 24 turns (dev 10 / held-out 14) ก่อนเพิ่ม conversation router จึงต้องประเมิน router แยกต่างหาก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APPENDIX 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Data contract: วันอ้างอิง วันเผยแพร่ และเวลาดึงข้อมูลมีความหมายต่างกัน</a:t>
            </a:r>
            <a:endParaRPr lang="en-US" sz="2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035040"/>
                <a:gridCol w="295625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บริบท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กฎที่ใช้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แถวที่ขาดใน mart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Population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ใช้ปีทะเบียนล่าสุดตั้งแต่ ม.ค. ของปีถัดไป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 / 1,925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GPP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Last-Modified ต้องไม่เกินสิ้นเดือนของข้อมูลธนาคาร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1,540 / 1,925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Inflation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ปีก่อนหน้า และ lastupdated ไม่เกินสิ้นเดือน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1,925 / 1,925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Policy rate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มติล่าสุดที่มีผลไม่เกินสิ้นเดือน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เลือกตาม event_date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75488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ยอดสินเชื่อและเงินฝากเป็นยอดคงค้าง ณ สิ้นงวด: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รวมข้ามจังหวัดในเดือนเดียวกันได้ แต่ห้ามรวมข้ามเดือน เพราะไม่ใช่ยอดธุรกรรมรายเดือน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แหล่งทางการ: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app.bot.or.th (FI_CB_011_S5) · stat.bora.dopa.go.th · nesdc.go.th (GPP 2024p) · api.worldbank.org (FP.CPI.TOTL.ZG) · bot.or.th (MPC)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nk Intelligence">
  <a:themeElements>
    <a:clrScheme name="Bank Intelligence">
      <a:dk1>
        <a:srgbClr val="1A2233"/>
      </a:dk1>
      <a:lt1>
        <a:srgbClr val="FFFFFF"/>
      </a:lt1>
      <a:dk2>
        <a:srgbClr val="14264A"/>
      </a:dk2>
      <a:lt2>
        <a:srgbClr val="EEF4F1"/>
      </a:lt2>
      <a:accent1>
        <a:srgbClr val="0B7A5C"/>
      </a:accent1>
      <a:accent2>
        <a:srgbClr val="2E4A7A"/>
      </a:accent2>
      <a:accent3>
        <a:srgbClr val="C77D02"/>
      </a:accent3>
      <a:accent4>
        <a:srgbClr val="5B6878"/>
      </a:accent4>
      <a:accent5>
        <a:srgbClr val="6CC4A4"/>
      </a:accent5>
      <a:accent6>
        <a:srgbClr val="D5DDE5"/>
      </a:accent6>
      <a:hlink>
        <a:srgbClr val="0B7A5C"/>
      </a:hlink>
      <a:folHlink>
        <a:srgbClr val="14264A"/>
      </a:folHlink>
    </a:clrScheme>
    <a:fontScheme name="Office">
      <a:majorFont>
        <a:latin typeface="Leelawadee UI"/>
        <a:ea typeface=""/>
        <a:cs typeface="Leelawade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Leelawadee UI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/>
        <a:ea typeface=""/>
        <a:cs typeface="Leelawade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Leelawadee U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Thailand Regional Banking Intelligence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Thailand Regional Banking Intelligence</dc:title>
  <dc:subject>Provincial banking market screening from public data</dc:subject>
  <dc:creator>anupat2046</dc:creator>
  <cp:lastModifiedBy>anupat2046</cp:lastModifiedBy>
  <cp:revision>1</cp:revision>
  <dcterms:created xsi:type="dcterms:W3CDTF">2026-10-11T08:44:43Z</dcterms:created>
  <dcterms:modified xsi:type="dcterms:W3CDTF">2026-10-11T08:44:43Z</dcterms:modified>
</cp:coreProperties>
</file>